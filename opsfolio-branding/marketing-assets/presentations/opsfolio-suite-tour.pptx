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39" autoAdjust="0"/>
    <p:restoredTop sz="86364" autoAdjust="0"/>
  </p:normalViewPr>
  <p:slideViewPr>
    <p:cSldViewPr snapToGrid="0" snapToObjects="1">
      <p:cViewPr varScale="1">
        <p:scale>
          <a:sx n="95" d="100"/>
          <a:sy n="95" d="100"/>
        </p:scale>
        <p:origin x="169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05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6187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187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6187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6187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6187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6187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6187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6187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6187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9339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9339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9339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9339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9339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9339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9339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2491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2491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2491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2491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2491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2491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2491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2491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2491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5643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5643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5643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5643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5643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5643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5643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45643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5643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18795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18795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8795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8795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18795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18795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8795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18795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8795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1947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1947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91947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1947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91947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91947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1947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91947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91947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5099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65099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65099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65099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5099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65099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65099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65099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65099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38251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38251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38251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38251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38251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38251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38251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38251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38251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11403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11403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11403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1403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11403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11403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11403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711403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11403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84555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84555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84555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84555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84555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84555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4555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784555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784555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57707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57707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57707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57707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57707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57707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57707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57707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57707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30859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930859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930859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930859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930859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30859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930859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930859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930859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004011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004011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004011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004011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004011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04011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04011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004011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004011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77163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77163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77163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077163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077163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1077163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1077163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1077163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1077163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11503152" y="3474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11503152" y="10789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11503152" y="18105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11503152" y="25420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11503152" y="327355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1503152" y="400507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1503152" y="473659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1503152" y="546811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1503152" y="6199632"/>
            <a:ext cx="36576" cy="3657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640080" y="17830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</a:t>
            </a:r>
            <a:endParaRPr lang="en-US" sz="5600" dirty="0"/>
          </a:p>
        </p:txBody>
      </p:sp>
      <p:sp>
        <p:nvSpPr>
          <p:cNvPr id="150" name="Text 148"/>
          <p:cNvSpPr/>
          <p:nvPr/>
        </p:nvSpPr>
        <p:spPr>
          <a:xfrm>
            <a:off x="64008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Engineering · Continuous Assurance · AI-Native Governance</a:t>
            </a:r>
            <a:endParaRPr lang="en-US" sz="1700" dirty="0"/>
          </a:p>
        </p:txBody>
      </p:sp>
      <p:sp>
        <p:nvSpPr>
          <p:cNvPr id="151" name="Shape 149"/>
          <p:cNvSpPr/>
          <p:nvPr/>
        </p:nvSpPr>
        <p:spPr>
          <a:xfrm>
            <a:off x="640080" y="3749040"/>
            <a:ext cx="6858000" cy="0"/>
          </a:xfrm>
          <a:prstGeom prst="line">
            <a:avLst/>
          </a:prstGeom>
          <a:noFill/>
          <a:ln w="1524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40080" y="3886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the platform that converts compliance frameworks into executable, continuously-verified controls.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8348472" y="6355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Communications LLC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75304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4447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95681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37744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GRC fails modern infrastructure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15384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15384" y="1280160"/>
            <a:ext cx="357530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9976" y="14447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79976" y="195681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9976" y="237744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 and Compliance as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73568" y="1280160"/>
            <a:ext cx="3575304" cy="10972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144475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38160" y="195681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37744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+ Qualityfolio feeding Opsfolio Suite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575304" cy="10972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6393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" y="415137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" y="457200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every major module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15384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15384" y="3474720"/>
            <a:ext cx="3575304" cy="109728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79976" y="36393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79976" y="415137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79976" y="457200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multi-framework, AI-native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73568" y="3474720"/>
            <a:ext cx="3575304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38160" y="36393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138160" y="415137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&amp; Close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8160" y="4572000"/>
            <a:ext cx="334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model, guarantee, and next steps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By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GRC tool in the market — Vanta, Drata, ServiceNow, RSA Archer — shares the same architecture: compliance is a documentation state assembled at intervals. The auditor samples from a collection of screenshots. The organization hopes nothing changed.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727704" cy="32461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3081528"/>
            <a:ext cx="731520" cy="29260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630168"/>
            <a:ext cx="340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Gaps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407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pass at 2:00 AM. Fail at 2:01 AM. Nobody knows until the next scheduled scan — 23 hours and 59 minutes later.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6344" y="2880360"/>
            <a:ext cx="3727704" cy="32461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59224" y="3081528"/>
            <a:ext cx="731520" cy="29260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59224" y="30815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59224" y="3630168"/>
            <a:ext cx="340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Harvests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59224" y="4160520"/>
            <a:ext cx="3407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fire drills: collect screenshots, chase teammates for evidence, pray the auditor doesn't ask what happened between check-ins.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5488" y="2880360"/>
            <a:ext cx="3727704" cy="32461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8368" y="3081528"/>
            <a:ext cx="731520" cy="29260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8368" y="30815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78368" y="3630168"/>
            <a:ext cx="340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Invisible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8368" y="4160520"/>
            <a:ext cx="3407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generate consequential actions at machine speed. No manual collection process produces contemporaneous evidence.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a computational invariant — not a documentation state.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65836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 cᵢ ∈ C,  ∀ t :  φᵢ(Eₜ)  ∨  gᵢ(t)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control and at every moment in time: either the control is satisfied, or a gap signal is actively asserted.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72770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72770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73580" y="3154680"/>
            <a:ext cx="694944" cy="694944"/>
          </a:xfrm>
          <a:prstGeom prst="ellipse">
            <a:avLst/>
          </a:prstGeom>
          <a:solidFill>
            <a:srgbClr val="16A34A">
              <a:alpha val="13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73580" y="31546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3950208"/>
            <a:ext cx="3453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Satisfied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425696"/>
            <a:ext cx="3453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φᵢ(Eₜ) =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confirms the control is active and effective right now.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30624" y="2926080"/>
            <a:ext cx="372770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30624" y="2926080"/>
            <a:ext cx="3727704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47004" y="3154680"/>
            <a:ext cx="694944" cy="694944"/>
          </a:xfrm>
          <a:prstGeom prst="ellipse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7004" y="31546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367784" y="3950208"/>
            <a:ext cx="3453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Failed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67784" y="4425696"/>
            <a:ext cx="3453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φᵢ(Eₜ) = false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signal gᵢ(t) is asserted. Deviation is known, tracked, and managed.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4048" y="2926080"/>
            <a:ext cx="372770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04048" y="2926080"/>
            <a:ext cx="372770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20428" y="3154680"/>
            <a:ext cx="694944" cy="694944"/>
          </a:xfrm>
          <a:prstGeom prst="ellipse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0428" y="31546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?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141208" y="3950208"/>
            <a:ext cx="3453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Not Observed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41208" y="4425696"/>
            <a:ext cx="3453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coverage.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as a coverage gap — never silently assumed compliant.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4552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State 3 is Opsfolio-exclusive: uninstrumented controls surface as coverage gaps, never silently pass.  ·  opsfolio.com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Two Data Engines.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and Qualityfolio feed real-time operational evidence directly into Opsfolio Suite.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10972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EDR + Fleet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osquery · Steampipe · cnquery · SNMP agents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device posture: encryption, firewall, patches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Observed asset reconciliation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and unauthorized admin detection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SQLite evidence store (surveilr)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5513832"/>
            <a:ext cx="3291840" cy="38404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5513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Asset Intelligence + Evidence Warehouse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920594"/>
            <a:ext cx="182880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60520" y="4676242"/>
            <a:ext cx="182880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57116" y="1691640"/>
            <a:ext cx="3474720" cy="4389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57116" y="1691640"/>
            <a:ext cx="3474720" cy="10972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94276" y="18745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94276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Engineering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39996" y="2715768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Warehouse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Security Plans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Intelligence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Intelligence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77556" y="2920594"/>
            <a:ext cx="196596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77556" y="4676242"/>
            <a:ext cx="196596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74152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74152" y="1691640"/>
            <a:ext cx="3657600" cy="109728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57032" y="18745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57032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 as Code (TMaC)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57032" y="2715768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test artifacts in Git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suite → plan → cycle → case → evidence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SQL evidence via surveilr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SRE · Security &amp; Compliance unified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HIPAA, FDA 21 CFR Part 11, GxP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57032" y="5513832"/>
            <a:ext cx="3291840" cy="384048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57032" y="5513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Quality Intelligence + Evidence Warehouse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 at a Glance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sidebar sections. One unified GRC Engineering workspace.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59202" cy="470916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759202" cy="91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37944"/>
            <a:ext cx="247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5214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Library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Library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Warehouse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Library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Security Plans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1266" y="1691640"/>
            <a:ext cx="2759202" cy="470916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71266" y="1691640"/>
            <a:ext cx="2759202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8426" y="1837944"/>
            <a:ext cx="247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8426" y="2331720"/>
            <a:ext cx="25214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Intelligence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Intelligence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Supply 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5332" y="1691640"/>
            <a:ext cx="2759202" cy="470916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5332" y="1691640"/>
            <a:ext cx="2759202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22492" y="1837944"/>
            <a:ext cx="247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22492" y="2331720"/>
            <a:ext cx="25214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&amp; SLAs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POAMs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Insurance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99398" y="1691640"/>
            <a:ext cx="2759202" cy="470916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99398" y="1691640"/>
            <a:ext cx="2759202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36558" y="1837944"/>
            <a:ext cx="247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36558" y="2331720"/>
            <a:ext cx="2521458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Copilot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control guidance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preparation assistance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Role-specific, action-oriented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views: CISO, CCO, Analyst, Consultant, Auditor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POAM cards: priority, status, progress bar, days remaining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actions: update status, review &amp; approve, acknowledge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stats: Requires Action · Urgent · Completed · Compliance 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Accomplishments tab with impact levels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Views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Cards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https://suite.opsfolio.com/</a:t>
            </a:r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Library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framework. Every control. Executable.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compliance regimes: SOC 2, ISO 27001, NIST CSF, PCI DSS, HIPAA, GDPR, FedRAMP, SOX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AI-specific frameworks: ISO/IEC 42001, NIST AI RMF, EU AI Act, ISO/IEC 23894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expressed as executable predicates, not documents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Per-control: policies mapped, evidence linked, compliance 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 · Configure monitoring alerts per regime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Regimes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https://suite.opsfolio.com/controls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Library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with AI governance built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policies with approval status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mapping: one policy → multiple compliance frameworks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policies: schema validation, automated enforcement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metadata: risk tier, lifecycle stage, linked models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Author, Mapping, and Integration sub-pages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Governance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https://suite.opsfolio.com/policies</a:t>
            </a:r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Warehouse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generated, not collected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evidence items; 15 automated sources; 94% compliance coverage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tabs: Overview · Browse · Integrations · Upload · Mapping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AWS Integration, HR System, Nessus, manual upload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maps to policies AND controls simultaneously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telemetry record satisfies SOC 2 + CMMC + HIPAA simultaneously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2.8K+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Items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https://suite.opsfolio.com/evidence-warehouse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System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Plans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risk register to cATO readiness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Register: scoring, treatment, POAM linkage, audit risks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 Assessment and audit-specific risk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creation with authorization boundary definition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ATO (cATO) readiness dashboard — real-time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export for FedRAMP and federal compliance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Updates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https://suite.opsfolio.com/ssp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 as a query, not a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audits tracked; 6 active sessions (2 mock, 4 external)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Internal · External · Mock · Pre-Assessment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compliance score (+5% this month); 142/180 controls tested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Per-audit tabs: Overview · Controls · Findings · Evidence · Team · Timeline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 Audit" navigates to next pending control automatically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Audits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(not weeks)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https://suite.opsfolio.com/audit-center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threat intelligence meets compliance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detection and customizable response playbooks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and Penetration Testing sub-modules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threat intelligence feeds with risk scoring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correlation and SIEM integration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generates audit-grade evidence automatically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https://suite.opsfolio.com/threat-management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Fleetfolio · SQL-native EDR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1,997 assets: 247 servers · 1,432 workstations · 89 cloud · 156 apps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agents feed live posture: encryption, firewall, patches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Observed reconciliation: MATCHED / MISSING / UNEXPECTED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and unauthorized admin detection via SQL queries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Threats: 23 detected · 18 resolved · 2 critical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Tracked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https://suite.opsfolio.com/asset-intelligence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Intelligence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Qualityfolio · Test Management as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Management: 87% progress; Requirements Traceability: 92%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artifacts: Markdown + YAML + Git → surveilr SQL evidence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suite → plan → cycle → case → evidence hierarchy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Management and Risk Analysis / FMEA modules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flows directly into the Opsfolio Evidence Warehouse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Mgmt as 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Traceability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https://suite.opsfolio.com/quality-intelligence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Supply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that doesn't stop at the questionnaire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vendors tracked (+12%); 8 high-risk; 23 pending reviews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distribution: Critical 2% · High 5% · Medium 31% · Low 62%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Inventory · Questionnaires · Assessments · Monitoring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expiring contracts within 30 days — proactive alerting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vendor monitoring — not annual snapshot reviews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https://suite.opsfolio.com/vendors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POAMs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you can track, prove, and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POAM structure: ID, finding reference, priority, status, assignee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with individual completion status and due dates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slider 0–100% with real-time dashboard updates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Risks, Audit Findings, and Asset-level POAMs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SLO/SLA tracking with outcome reporting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Tracked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478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7000" y="6163056"/>
            <a:ext cx="110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Audits + Assets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https://suite.opsfolio.com/progress-poams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AI-Native Enterprise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GRC architecture designed to govern non-human actors natively.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759202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658368" cy="27432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System Standard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1266" y="1719072"/>
            <a:ext cx="2759202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08426" y="1901952"/>
            <a:ext cx="658368" cy="27432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8426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08426" y="2414016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08426" y="2834640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Framework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5332" y="1719072"/>
            <a:ext cx="2759202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22492" y="1901952"/>
            <a:ext cx="658368" cy="27432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22492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22492" y="2414016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22492" y="2834640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AI Regulation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99398" y="1719072"/>
            <a:ext cx="2759202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36558" y="1901952"/>
            <a:ext cx="658368" cy="27432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36558" y="1901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36558" y="2414016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23894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36558" y="2834640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Management Guidance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11274552" cy="246888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109728" cy="246888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3675888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" y="4069080"/>
            <a:ext cx="1090879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do not have HR profiles — they cannot respond to compliance questionnaires.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consequential actions at machine speed — no manual collection cadence can keep up.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Opsfolio's Operational Truth™ model — requiring all system behavior to produce verifiable operational evidence — is the only GRC architecture natively suited to AI agent governance.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roadmap item. It is an architectural consequence of the evidence-from-telemetry model.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AI Assistant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 on demand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3611880" cy="4535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Compliance-as-a-Service copilot embedded in the platform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control requirements in plain language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evidence gaps and suggests remediation paths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preparation: summarizes posture, flags risks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knows your frameworks, controls, and current posture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3D4F63"/>
          </a:solidFill>
          <a:ln w="12700">
            <a:solidFill>
              <a:srgbClr val="4A5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opsfolio.suite/copilot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850392"/>
            <a:ext cx="7571232" cy="55961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Coverage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evidence record satisfies SOC 2 + CMMC + HIPAA simultaneously.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" cy="7132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093976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5838" y="1691640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75838" y="1691640"/>
            <a:ext cx="82296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8718" y="1783080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8718" y="2093976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4476" y="1691640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4476" y="1691640"/>
            <a:ext cx="82296" cy="713232"/>
          </a:xfrm>
          <a:prstGeom prst="rect">
            <a:avLst/>
          </a:prstGeom>
          <a:solidFill>
            <a:srgbClr val="5C7CFA"/>
          </a:solidFill>
          <a:ln w="12700">
            <a:solidFill>
              <a:srgbClr val="5C7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7356" y="1783080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77356" y="2093976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3114" y="1691640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13114" y="1691640"/>
            <a:ext cx="82296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95994" y="1783080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95994" y="2093976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496312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496312"/>
            <a:ext cx="82296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587752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2898648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75838" y="2496312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75838" y="2496312"/>
            <a:ext cx="82296" cy="7132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58718" y="2587752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58718" y="2898648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4476" y="2496312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94476" y="2496312"/>
            <a:ext cx="82296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77356" y="2587752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77356" y="2898648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13114" y="2496312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913114" y="2496312"/>
            <a:ext cx="82296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95994" y="2587752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095994" y="2898648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300984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300984"/>
            <a:ext cx="82296" cy="7132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3392424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CMMC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" y="3703320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75838" y="3300984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75838" y="3300984"/>
            <a:ext cx="82296" cy="7132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58718" y="3392424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458718" y="3703320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94476" y="3300984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4476" y="3300984"/>
            <a:ext cx="82296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77356" y="3392424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277356" y="3703320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13114" y="3300984"/>
            <a:ext cx="2745486" cy="713232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913114" y="3300984"/>
            <a:ext cx="82296" cy="7132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5994" y="3392424"/>
            <a:ext cx="2471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095994" y="3703320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AI/Legal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21792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ISO 22301  ·  CCM  ·  CCPA  ·  ISO/IEC 23894  ·  Additional on request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workspaces per organization. Role-based access. Product-led growth activation.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81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8198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40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21992"/>
            <a:ext cx="340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Full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407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7063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Operations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Division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30624" y="1691640"/>
            <a:ext cx="3681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30624" y="1691640"/>
            <a:ext cx="368198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7784" y="1856232"/>
            <a:ext cx="340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TechStart Inc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7784" y="2221992"/>
            <a:ext cx="340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Restricted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67784" y="2514600"/>
            <a:ext cx="3407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67784" y="277063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4048" y="1691640"/>
            <a:ext cx="3681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04048" y="1691640"/>
            <a:ext cx="368198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41208" y="1856232"/>
            <a:ext cx="340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Systems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41208" y="2221992"/>
            <a:ext cx="340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Restricted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41208" y="2514600"/>
            <a:ext cx="3407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41208" y="277063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Pacific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11274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216347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2053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193792"/>
            <a:ext cx="20537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· user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3822" y="4663440"/>
            <a:ext cx="216347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85262" y="4754880"/>
            <a:ext cx="2053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Manager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85262" y="5193792"/>
            <a:ext cx="20537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· controls · assessments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0445" y="4663440"/>
            <a:ext cx="216347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1885" y="4754880"/>
            <a:ext cx="2053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1885" y="5193792"/>
            <a:ext cx="20537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controls · upload evidence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67067" y="4663440"/>
            <a:ext cx="216347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58507" y="4754880"/>
            <a:ext cx="2053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58507" y="5193792"/>
            <a:ext cx="20537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 · upload evidence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03690" y="4663440"/>
            <a:ext cx="216347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95130" y="4754880"/>
            <a:ext cx="2053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495130" y="5193792"/>
            <a:ext cx="20537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dashboards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Ecosystem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lands as normalized, queryable SQL evidence.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81758" cy="46634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181758" cy="91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837944"/>
            <a:ext cx="1980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Fleet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50008"/>
            <a:ext cx="201716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osquery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cnquery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polling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WMI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3822" y="1691640"/>
            <a:ext cx="2181758" cy="46634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3822" y="1691640"/>
            <a:ext cx="2181758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03550" y="1837944"/>
            <a:ext cx="1980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03550" y="2350008"/>
            <a:ext cx="201716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(CloudTrail, Config)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Cloud Logging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0445" y="1691640"/>
            <a:ext cx="2181758" cy="46634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30445" y="1691640"/>
            <a:ext cx="2181758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0173" y="1837944"/>
            <a:ext cx="1980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0173" y="2350008"/>
            <a:ext cx="201716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platforms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67067" y="1691640"/>
            <a:ext cx="2181758" cy="46634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67067" y="1691640"/>
            <a:ext cx="218175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76795" y="1837944"/>
            <a:ext cx="1980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Dev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76795" y="2350008"/>
            <a:ext cx="201716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CI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CLI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ticketing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export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03690" y="1691640"/>
            <a:ext cx="2181758" cy="466344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03690" y="1691640"/>
            <a:ext cx="218175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13418" y="1837944"/>
            <a:ext cx="19805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HR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13418" y="2350008"/>
            <a:ext cx="201716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/ IdP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connectors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a Service (CaaS)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+ operating discipline, delivered together — not a license you have to staff.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6100420" cy="4636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6100420" cy="91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582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CaaS Delivers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780380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engineers deploy and configure the platform for your stack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control domains ship as pre-built predicate templates (40 SOC 2 controls = 40 templates, not 40 custom builds)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 engineering: drift detection, gap remediation, control updates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education included: 3–5 reference auditors per framework who accept telemetry evidence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dashboard live from day one — not at end of implementation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40500" y="1764792"/>
            <a:ext cx="5082692" cy="1044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0228" y="1828800"/>
            <a:ext cx="475488" cy="475488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022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3732" y="1828800"/>
            <a:ext cx="4241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53732" y="2139696"/>
            <a:ext cx="4241444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cloud + identity + CI/CD pipeline. Three integrations cover 60–70% of SOC 2 technical surface.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40500" y="2900934"/>
            <a:ext cx="5082692" cy="1044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0228" y="2964942"/>
            <a:ext cx="475488" cy="47548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0228" y="296494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53732" y="2964942"/>
            <a:ext cx="4241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53732" y="3275838"/>
            <a:ext cx="4241444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goes live. First evidence generated. Audit Center opens.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40500" y="4037076"/>
            <a:ext cx="5082692" cy="1044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0228" y="4101084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0228" y="41010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3732" y="4101084"/>
            <a:ext cx="4241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53732" y="4411980"/>
            <a:ext cx="4241444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frameworks, integrations, and AI governance modules as needs grow.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40500" y="5173218"/>
            <a:ext cx="5082692" cy="10447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0228" y="523722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0228" y="523722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53732" y="5237226"/>
            <a:ext cx="4241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53732" y="5548122"/>
            <a:ext cx="4241444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 generated by query. Audit prep: hours, not weeks.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Guarantee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365992" cy="1920240"/>
          </a:xfrm>
          <a:prstGeom prst="rect">
            <a:avLst/>
          </a:prstGeom>
          <a:solidFill>
            <a:srgbClr val="0D2E54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0863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guarantee your audit outcome. If you follow our process and don’t pass, we keep working — at our cost — until you do.”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2722626" cy="155448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630168"/>
            <a:ext cx="2722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76072" y="4315968"/>
            <a:ext cx="2576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Pass Rate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8698" y="3401568"/>
            <a:ext cx="2722626" cy="155448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8698" y="3630168"/>
            <a:ext cx="2722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71850" y="4315968"/>
            <a:ext cx="2576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Years to Audit-Ready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4476" y="3401568"/>
            <a:ext cx="2722626" cy="155448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4476" y="3630168"/>
            <a:ext cx="2722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67628" y="4315968"/>
            <a:ext cx="2576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Sprints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90254" y="3401568"/>
            <a:ext cx="2722626" cy="155448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0254" y="3630168"/>
            <a:ext cx="27226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963406" y="4315968"/>
            <a:ext cx="2576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Demand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315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 · Fleetfolio · Qualityfolio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310750" cy="34747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2310750" cy="91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65687" y="2926080"/>
            <a:ext cx="585216" cy="585216"/>
          </a:xfrm>
          <a:prstGeom prst="ellipse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5687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" y="3675888"/>
            <a:ext cx="2054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4133088"/>
            <a:ext cx="2054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against your primary cloud provider and identity provider. Live compliance posture in days.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05110" y="2743200"/>
            <a:ext cx="2310750" cy="34747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5110" y="2743200"/>
            <a:ext cx="231075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67877" y="2926080"/>
            <a:ext cx="585216" cy="58521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67877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33126" y="3675888"/>
            <a:ext cx="2054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3126" y="4133088"/>
            <a:ext cx="2054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first compliance framework. SOC 2 or CMMC are common starting points for new customers.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7300" y="2743200"/>
            <a:ext cx="2310750" cy="3474720"/>
          </a:xfrm>
          <a:prstGeom prst="rect">
            <a:avLst/>
          </a:prstGeom>
          <a:solidFill>
            <a:srgbClr val="0D2E54"/>
          </a:solidFill>
          <a:ln w="12700">
            <a:solidFill>
              <a:srgbClr val="1A4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07300" y="2743200"/>
            <a:ext cx="231075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0066" y="2926080"/>
            <a:ext cx="58521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0066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35316" y="3675888"/>
            <a:ext cx="2054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Audit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5316" y="4133088"/>
            <a:ext cx="20547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days, your first audit package is generated by query. No sprint. No scramble. No screenshots.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00929" y="2606040"/>
            <a:ext cx="4113703" cy="3749040"/>
          </a:xfrm>
          <a:prstGeom prst="rect">
            <a:avLst/>
          </a:prstGeom>
          <a:solidFill>
            <a:srgbClr val="0D2E54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83809" y="2788920"/>
            <a:ext cx="3930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83809" y="33101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06769" y="3310128"/>
            <a:ext cx="3153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83809" y="3858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06769" y="3858768"/>
            <a:ext cx="3153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sales@opsfolio.com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83809" y="44074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06769" y="4407408"/>
            <a:ext cx="3153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83809" y="49560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06769" y="4956048"/>
            <a:ext cx="3153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83809" y="5577840"/>
            <a:ext cx="3930823" cy="45720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83809" y="5577840"/>
            <a:ext cx="3930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Demo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D62"/>
          </a:solidFill>
          <a:ln w="12700">
            <a:solidFill>
              <a:srgbClr val="006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  ·  Confidential  ·  Netspective Communications LLC  ·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2350</Words>
  <Application>Microsoft Office PowerPoint</Application>
  <PresentationFormat>Widescreen</PresentationFormat>
  <Paragraphs>498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Opsfolio Suite: A Product Tour</dc:title>
  <dc:subject>PptxGenJS Presentation</dc:subject>
  <dc:creator>Netspective / Opsfolio</dc:creator>
  <cp:lastModifiedBy>Arun K R</cp:lastModifiedBy>
  <cp:revision>15</cp:revision>
  <dcterms:created xsi:type="dcterms:W3CDTF">2026-05-05T17:18:57Z</dcterms:created>
  <dcterms:modified xsi:type="dcterms:W3CDTF">2026-05-06T08:32:35Z</dcterms:modified>
</cp:coreProperties>
</file>