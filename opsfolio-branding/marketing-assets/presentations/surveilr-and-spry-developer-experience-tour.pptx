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1" r:id="rId17"/>
    <p:sldId id="269" r:id="rId18"/>
    <p:sldId id="270" r:id="rId19"/>
    <p:sldId id="271" r:id="rId20"/>
    <p:sldId id="272" r:id="rId21"/>
    <p:sldId id="279" r:id="rId22"/>
    <p:sldId id="273" r:id="rId23"/>
    <p:sldId id="278" r:id="rId24"/>
    <p:sldId id="274" r:id="rId25"/>
    <p:sldId id="280" r:id="rId26"/>
    <p:sldId id="275" r:id="rId27"/>
    <p:sldId id="276" r:id="rId28"/>
    <p:sldId id="277" r:id="rId2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6" name="Google Shape;30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9" name="Google Shape;46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5" name="Google Shape;48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9" name="Google Shape;51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2" name="Google Shape;59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0" name="Google Shape;65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2" name="Google Shape;67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0" name="Google Shape;71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3" name="Google Shape;79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4" name="Google Shape;79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slide" Target="slide13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jpeg"/><Relationship Id="rId1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1" Type="http://schemas.openxmlformats.org/officeDocument/2006/relationships/slide" Target="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slide" Target="slide22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583680" y="36576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205472" y="36576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827264" y="36576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449056" y="36576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0" y="1170432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205472" y="1170432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827264" y="1170432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449056" y="1170432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83680" y="1975104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205472" y="1975104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827264" y="1975104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449056" y="1975104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583680" y="2779776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205472" y="2779776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827264" y="2779776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449056" y="2779776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583680" y="3584448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205472" y="3584448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827264" y="3584448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449056" y="3584448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583680" y="438912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205472" y="438912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827264" y="438912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449056" y="4389120"/>
            <a:ext cx="530352" cy="640080"/>
          </a:xfrm>
          <a:prstGeom prst="rect">
            <a:avLst/>
          </a:prstGeom>
          <a:solidFill>
            <a:srgbClr val="0D3158">
              <a:alpha val="7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5760" y="6400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000"/>
              <a:buFont typeface="Calibri" panose="020F0502020204030204"/>
              <a:buNone/>
            </a:pPr>
            <a:r>
              <a:rPr lang="en-US" sz="10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ECOSYSTEM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65760" y="10972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 panose="020F0502020204030204"/>
              <a:buNone/>
            </a:pPr>
            <a:r>
              <a:rPr lang="en-US" sz="3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Developer Experience Tour</a:t>
            </a:r>
            <a:endParaRPr sz="3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65760" y="2194560"/>
            <a:ext cx="2194560" cy="5486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65760" y="23774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Spry  ·  Fleetfolio  ·  Qualityfolio  ·  Opsfolio Suite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5760" y="27889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Independent tools. Composable platform. Evidence by default.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65760" y="4206240"/>
            <a:ext cx="1078992" cy="45720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65760" y="4206240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536192" y="4206240"/>
            <a:ext cx="1078992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536192" y="4206240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706624" y="4206240"/>
            <a:ext cx="1078992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706624" y="4206240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877056" y="4206240"/>
            <a:ext cx="1078992" cy="45720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877056" y="4206240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047488" y="4206240"/>
            <a:ext cx="1078992" cy="4572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47488" y="4206240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OPSFOLIO ECOSYSTEM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 panose="020F0502020204030204"/>
              <a:buNone/>
            </a:pPr>
            <a:r>
              <a:rPr lang="en-US" sz="13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Five products. Two infrastructure layers. One composable platform.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74320" y="1143000"/>
            <a:ext cx="8595360" cy="1417320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20700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INFRASTRUCTURE LAYER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1508760"/>
            <a:ext cx="3474720" cy="868680"/>
          </a:xfrm>
          <a:prstGeom prst="rect">
            <a:avLst/>
          </a:prstGeom>
          <a:solidFill>
            <a:srgbClr val="006D62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7" name="Google Shape;67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8580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109728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97280" y="1874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E8F4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Resource Surveillance &amp; Integration Engine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E8F4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RSSD · SQL Pages · Patterns · Single Binary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120640" y="1508760"/>
            <a:ext cx="3474720" cy="868680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1" name="Google Shape;71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5780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566928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669280" y="1874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E8F4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Markdown-as-Code · SQL Curator · DAG Orchestrator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E8F4F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 as Code · Evidence Warehouses · Runbooks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160520" y="1901952"/>
            <a:ext cx="914400" cy="5486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343400" y="1783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↔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74320" y="2743200"/>
            <a:ext cx="8595360" cy="141732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80720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APPLICATION LAYER — BUILT ON SURVEILR + SPRY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3090672"/>
            <a:ext cx="2834640" cy="932688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58368" y="3127248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58368" y="3456432"/>
            <a:ext cx="2615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SQL-native EDR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 Security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520440" y="3090672"/>
            <a:ext cx="2834640" cy="932688"/>
          </a:xfrm>
          <a:prstGeom prst="rect">
            <a:avLst/>
          </a:prstGeom>
          <a:solidFill>
            <a:srgbClr val="1B6B5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30168" y="3127248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30168" y="3456432"/>
            <a:ext cx="2615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TMaC · Test Evidence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QA &amp; Compliance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92240" y="3103880"/>
            <a:ext cx="2331085" cy="919480"/>
          </a:xfrm>
          <a:prstGeom prst="rect">
            <a:avLst/>
          </a:prstGeom>
          <a:solidFill>
            <a:srgbClr val="0A2240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601968" y="3127248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Suite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601968" y="3456432"/>
            <a:ext cx="2615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GRC Engineering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Operational Truth™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371600" y="2578608"/>
            <a:ext cx="54864" cy="438912"/>
          </a:xfrm>
          <a:prstGeom prst="rect">
            <a:avLst/>
          </a:prstGeom>
          <a:solidFill>
            <a:srgbClr val="00A99D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74720" y="2578608"/>
            <a:ext cx="54864" cy="438912"/>
          </a:xfrm>
          <a:prstGeom prst="rect">
            <a:avLst/>
          </a:prstGeom>
          <a:solidFill>
            <a:srgbClr val="00A99D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0" y="2578608"/>
            <a:ext cx="54864" cy="438912"/>
          </a:xfrm>
          <a:prstGeom prst="rect">
            <a:avLst/>
          </a:prstGeom>
          <a:solidFill>
            <a:srgbClr val="00A99D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" y="43159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 i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product can be used independently OR composed into the Opsfolio Suite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INFRASTRUCTURE LAYER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0" y="6400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 panose="020F0502020204030204"/>
              <a:buNone/>
            </a:pPr>
            <a:r>
              <a:rPr lang="en-US" sz="2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surveilr and Spry underpin everything</a:t>
            </a:r>
            <a:endParaRPr sz="2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74320" y="1188720"/>
            <a:ext cx="2834640" cy="361188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1" name="Google Shape;101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8912" y="13258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896112" y="1325880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= Evidence Engine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38912" y="1783080"/>
            <a:ext cx="2505456" cy="2743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38912" y="190195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85216" y="188366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static binary — no cluster, no runtime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38912" y="245059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85216" y="243230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Ingests any resource → portable SQLite RSSD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38912" y="299923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85216" y="298094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detection, event, test result → immutable SQL row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38912" y="354787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85216" y="352958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Built-in SQL Pages web server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38912" y="409651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85216" y="407822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AI-ready Operational Truth™ Warehouses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27832" y="1188720"/>
            <a:ext cx="2834640" cy="361188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5" name="Google Shape;115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92424" y="13258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3849624" y="1325880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= Orchestration Layer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392424" y="1783080"/>
            <a:ext cx="2505456" cy="2743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392424" y="190195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538728" y="188366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Executable Markdown → DAG of SQL/Bash/TS tasks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392424" y="245059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538728" y="243230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Type-safe SQL libraries with [PI] + {attrs}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392424" y="299923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538728" y="298094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Builds SQLPage web apps from a single .md file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92424" y="354787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538728" y="352958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 Warehouses — code + output in one artifact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392424" y="409651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538728" y="407822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 as Code — dashboards version-controlled in Git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181344" y="1188720"/>
            <a:ext cx="2834640" cy="361188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9" name="Google Shape;129;p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5936" y="13258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803136" y="1325880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Together = Composable Platform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45936" y="1783080"/>
            <a:ext cx="2505456" cy="2743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345936" y="190195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92240" y="188366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orchestrates surveilr ingestion pipelines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345936" y="245059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92240" y="243230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stores evidence that Spry notebooks reference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345936" y="299923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92240" y="298094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 &amp; Qualityfolio are surveilr Patterns + Spry views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345936" y="354787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492240" y="352958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Suite layers GRC policy on both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345936" y="4096512"/>
            <a:ext cx="54864" cy="237744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92240" y="4078224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tool retains full independent DX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WHAT IS IT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5486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urier New" panose="02070309020205020404"/>
              <a:buNone/>
            </a:pPr>
            <a:r>
              <a:rPr lang="en-US" sz="360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</a:t>
            </a:r>
            <a:endParaRPr sz="3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117043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Resource Surveillance &amp; Integration Engine for Operational Truth™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157276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 panose="020F0502020204030204"/>
              <a:buNone/>
            </a:pPr>
            <a:r>
              <a:rPr lang="en-US" sz="950" i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Your resources. Your truth. Your control.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74320" y="1965960"/>
            <a:ext cx="1600200" cy="141732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3" name="Google Shape;153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68680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274320" y="25328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 Binary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74320" y="27980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Static. No cluster.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Runs anywhere.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993392" y="1965960"/>
            <a:ext cx="1600200" cy="141732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7" name="Google Shape;157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87752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1993392" y="25328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RSSD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993392" y="27980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Portable SQLite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Operational Truth Warehouse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712464" y="1965960"/>
            <a:ext cx="1600200" cy="141732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1" name="Google Shape;161;p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06824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3712464" y="25328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Native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712464" y="27980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 SQL is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only interface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31536" y="1965960"/>
            <a:ext cx="1600200" cy="141732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5" name="Google Shape;165;p6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25896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5431536" y="25328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AI-Ready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31536" y="27980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Deterministic substrate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AI Workforce™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150608" y="1965960"/>
            <a:ext cx="1600200" cy="141732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9" name="Google Shape;169;p6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44968" y="20848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7150608" y="25328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Evidence-First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7150608" y="2798064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Immutable, timestamped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by default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74320" y="3566160"/>
            <a:ext cx="8595360" cy="1261872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11480" y="3657600"/>
            <a:ext cx="1481328" cy="292608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11480" y="365760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Oracle/PG/MySQL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075688" y="3657600"/>
            <a:ext cx="1481328" cy="292608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075688" y="365760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Files + IMAP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739896" y="3657600"/>
            <a:ext cx="1481328" cy="292608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739896" y="365760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REST APIs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04104" y="3657600"/>
            <a:ext cx="1481328" cy="292608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404104" y="365760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HL7/FHIR/X.12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068312" y="3657600"/>
            <a:ext cx="1481328" cy="292608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068312" y="365760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Capturable Execs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11480" y="4005072"/>
            <a:ext cx="8321040" cy="36576"/>
          </a:xfrm>
          <a:prstGeom prst="rect">
            <a:avLst/>
          </a:prstGeom>
          <a:solidFill>
            <a:srgbClr val="006D6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474720" y="4041648"/>
            <a:ext cx="2194560" cy="34747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474720" y="404164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RSSD  →  Operational Truth™ Warehouse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11480" y="4425696"/>
            <a:ext cx="8321040" cy="36576"/>
          </a:xfrm>
          <a:prstGeom prst="rect">
            <a:avLst/>
          </a:prstGeom>
          <a:solidFill>
            <a:srgbClr val="006D6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11480" y="446227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· JDBC/ODBC · MCPs · AI Skills · SQL Pages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INSTALL &amp; FIRST RUN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5760" y="5669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 panose="020F0502020204030204"/>
              <a:buNone/>
            </a:pPr>
            <a:r>
              <a:rPr lang="en-US" sz="1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to Operational Truth™ in 3 commands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74320" y="1051560"/>
            <a:ext cx="4297680" cy="23317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11480" y="110642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Install surveilr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11480" y="1289304"/>
            <a:ext cx="4023360" cy="198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macOS — Homebrew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tap surveilr/tap &amp;&amp; brew install surveilr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Linux — global install (Could use brew as well)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wget https://github.com/surveilr/packages/releases/latest/download/surveilr_jammy.deb</a:t>
            </a: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sudo dpkg -i surveilr_jammy.deb</a:t>
            </a: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Manual — download + move binary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wget https://github.com/surveilr/packages/releases/\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download/latest/surveilr_x86_64-linux.tar.gz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tar -xzf surveilr_*.tar.gz &amp;&amp; sudo mv surveilr /usr/local/bin/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--version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754880" y="1051560"/>
            <a:ext cx="4114800" cy="23317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92040" y="1106424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First run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92040" y="1289304"/>
            <a:ext cx="3840480" cy="198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1. Ingest files from the current directory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ingest files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2. Load a domain Pattern (e.g. Osquery)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deno run -A https://github.com/surveilr/patterns/blob/main/osquery-ms/queries.sql.ts |  surveilr shell</a:t>
            </a: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3. Launch the built-in SQL Pages web UI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web-ui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-d "resource-surveillance.sqlite.db"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--port 3010 --host localhost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Open → http://127.0.0.1:3010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74320" y="3520440"/>
            <a:ext cx="429768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11480" y="357530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Upgrade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11480" y="3758184"/>
            <a:ext cx="402336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Always stay current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upgrade --yes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--version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754880" y="3520440"/>
            <a:ext cx="4114800" cy="77724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892040" y="358444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One binary — no daemon, no cluster, no JVM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Runs on Linux · macOS · Windows · Raspberry Pi · Air-gap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Data stays local — sovereign by default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UNIVERSAL SCHEMA &amp; RSSD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65760" y="5669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resource lands in one normalized SQLite database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74320" y="1078865"/>
            <a:ext cx="5212080" cy="2745105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11480" y="1133856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resource-surveillance.sqlite.db — core schema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1316736"/>
            <a:ext cx="4937760" cy="18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Core ingestion tables (simplified)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TABLE uniform_resource (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uniform_resource_id     TEXT PRIMARY KEY,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device_id               TEXT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ingest_session_id       TEXT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uri                     TEXT NOT NULL,        -- source path/URL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content                 BLOB,                 -- raw content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nature                  TEXT,                 -- file type / mime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size_bytes              INTEGER,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last_modified_at        TIMESTAMPTZ,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content_digest          TEXT,                 -- SHA-256 hash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created_at              TIMESTAMPTZ DEFAULT CURRENT_TIMESTAMP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TABLE uniform_resource_csv (  -- type-specialized view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uniform_resource_id     TEXT PRIMARY KEY REFERENCES uniform_resource,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header_names_csv_row    TEXT,       -- detected columns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parsed_data             JSONB       -- structured rows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274320" y="3906520"/>
            <a:ext cx="2030095" cy="9169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274320" y="3824097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Portable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74320" y="3858768"/>
            <a:ext cx="202996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Copy one .db file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share an entire warehouse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2450465" y="4044950"/>
            <a:ext cx="2030095" cy="737235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449957" y="3824097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ACID + WAL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2450592" y="3858768"/>
            <a:ext cx="202996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Safe concurrent reads,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data loss on crash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626610" y="3986530"/>
            <a:ext cx="2030095" cy="795655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638294" y="3752342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Point-in-Time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626864" y="3858768"/>
            <a:ext cx="202996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data as it existed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 any moment 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826250" y="3858895"/>
            <a:ext cx="2030095" cy="86741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825996" y="3751707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Sync-Ready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803136" y="3858768"/>
            <a:ext cx="202996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Replicate to Postgres,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Oracle, MySQL at scale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0" name="Google Shape;230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28640" y="1146810"/>
            <a:ext cx="3411220" cy="22644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628640" y="3477895"/>
            <a:ext cx="2901315" cy="20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750" i="1" dirty="0">
                <a:solidFill>
                  <a:srgbClr val="B0BEC5"/>
                </a:solidFill>
                <a:sym typeface="+mn-ea"/>
              </a:rPr>
              <a:t>surveilr RSSD opened in SQLite editor— uniform_resource table </a:t>
            </a:r>
            <a:endParaRPr lang="en-US" sz="750" i="1" dirty="0">
              <a:solidFill>
                <a:srgbClr val="B0BEC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QUERYING OPERATIONAL TRUTH™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65760" y="5669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is the only interface you need to know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74320" y="1051560"/>
            <a:ext cx="4876702" cy="15544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11480" y="110642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Observability — stop searching logs, start querying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11480" y="1289304"/>
            <a:ext cx="475488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-- Contextual Unified Activity Records: all checkout failures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-- for premium users in the last hour with feature flag X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SELECT request_id, user_id, error_code, duration_ms, feature_flags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FROM   activity_record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WHERE  service       = 'checkout'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 AND  status_code  &gt;= 400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 AND  subscription  = 'premium'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 AND  time          &gt; datetime('now', '-1 hour')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ORDER  BY duration_ms DESC;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74320" y="2592070"/>
            <a:ext cx="487670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1480" y="2646934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Security posture — live SQL against fleet state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11480" y="2829814"/>
            <a:ext cx="475488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Fleet posture: unencrypted devices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hostname, os_version, last_seen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device_posture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disk_encrypted = FALSE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 last_seen &gt; datetime('now', '-7 days');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28270" y="3849116"/>
            <a:ext cx="4892040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65430" y="390398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Cross-system — joins across any ingested source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65430" y="408686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Cross-source correlation: deploys vs incidents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d.deploy_id, d.deployed_at, i.incident_title,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i.opened_at, julianday(i.opened_at) - julianday(d.deployed_at) AS lag_days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deploys 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JOIN   incidents i ON i.opened_at &gt; d.deployed_at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lag_days ASC;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972300" y="3767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50214" y="1058332"/>
            <a:ext cx="3820126" cy="136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46088" y="2765787"/>
            <a:ext cx="1781384" cy="14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016573" y="2765787"/>
            <a:ext cx="2049641" cy="14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020310" y="2481580"/>
            <a:ext cx="4046220" cy="20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  <a:sym typeface="+mn-ea"/>
              </a:rPr>
              <a:t>surveilr SQL Pages dashboard — query results rendered as interactive table with filters</a:t>
            </a:r>
            <a:endParaRPr lang="en-US" sz="750" i="1" dirty="0">
              <a:solidFill>
                <a:srgbClr val="B0BEC5"/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55920" y="4378325"/>
            <a:ext cx="3408045" cy="20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750" i="1" dirty="0">
                <a:solidFill>
                  <a:srgbClr val="B0BEC5"/>
                </a:solidFill>
                <a:sym typeface="+mn-ea"/>
              </a:rPr>
              <a:t>surveilr CLI — surveilr shell --cmd 'SELECT ...' returning JSON output</a:t>
            </a:r>
            <a:endParaRPr lang="en-US" sz="750" i="1" dirty="0">
              <a:solidFill>
                <a:srgbClr val="B0BEC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DOMAIN PATTERNS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Pre-packaged SQL solutions for specific domains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Pattern = stateless.sql (views) + stateful.sql (caches) + package.sql.ts (assembler). Install with one command.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74320" y="129844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2" name="Google Shape;262;p1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5760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/>
          <p:nvPr/>
        </p:nvSpPr>
        <p:spPr>
          <a:xfrm>
            <a:off x="731520" y="140817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Observability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65760" y="175564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182880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Contextual Unified Activity Records. Replace text logs with SQL-queryable structured records.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450592" y="129844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7" name="Google Shape;267;p1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42032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2907792" y="140817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Business Intelligence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542032" y="175564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542032" y="182880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Turn RSSD into a BI substrate. Connect Metabase, Superset, Power BI via ODBC/JDBC.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626864" y="129844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2" name="Google Shape;272;p1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18304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5084064" y="140817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Quality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718304" y="175564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718304" y="182880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SQL-defined quality checks, freshness tests, and exception reporting against ingested resources.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803136" y="129844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7" name="Google Shape;277;p10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894576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7260336" y="140817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DevOps &amp; SRE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894576" y="175564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894576" y="182880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Capture deploys, incidents, on-call signals, and pipeline events into one queryable RSSD.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74320" y="299008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2" name="Google Shape;282;p10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65760" y="3099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731520" y="309981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Financial Auditing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65760" y="344728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65760" y="352044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Aggregate transactional evidence for SOX-style audits with tamper-evident provenance.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450592" y="299008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7" name="Google Shape;287;p10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42032" y="3099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2907792" y="309981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Healthcare Compliance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542032" y="344728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542032" y="352044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HIPAA-aligned, HL7/FHIR-aware ingestion and evidence collection for regulated environments.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626864" y="299008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2" name="Google Shape;292;p10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18304" y="3099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084064" y="309981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Message Queue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718304" y="344728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718304" y="352044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Durable SQL-native MQ with SQS-compatible facade. Queue history = audit evidence.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03136" y="2990088"/>
            <a:ext cx="2029968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7" name="Google Shape;297;p10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894576" y="30998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7260336" y="309981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Security Monitoring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894576" y="3447288"/>
            <a:ext cx="1847088" cy="2743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894576" y="3520440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osquery-based endpoint config evidence, correlated for continuous security posture management.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74320" y="4700016"/>
            <a:ext cx="859536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11480" y="4700016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deno run -A https://github.com/surveilr/patterns/blob/main/osquery-ms/queries.sql.ts |  surveilr shell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BUILT-IN SQL PAGES WEB SERVER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65760" y="5669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 SQL. Get a web app. No Node, no PHP, no Python stack.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269748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760720" y="1051560"/>
            <a:ext cx="3154680" cy="19659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897880" y="1106424"/>
            <a:ext cx="2880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SQL → rendered web table, no HTML needed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897880" y="1289304"/>
            <a:ext cx="2880360" cy="16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Every SELECT statement is a rendered UI component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'table'        AS component,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'Test Results' AS title;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test_case_id,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exec_status   AS status,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exec_nature   AS test_name,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orch_started_at AS run_date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orchestration_session_exec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exec_status = 'FAILED'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orch_started_at DESC;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760720" y="3145536"/>
            <a:ext cx="3154680" cy="914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897880" y="3200400"/>
            <a:ext cx="2880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Start web UI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897880" y="33832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Launch in one command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web-ui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-d resource-surveillance.sqlite.db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--port 3010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--host localhost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Open browser → http://127.0.0.1:3010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274320" y="4224528"/>
            <a:ext cx="950976" cy="512064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274320" y="4224528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Dashboards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307592" y="4224528"/>
            <a:ext cx="950976" cy="512064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307592" y="4224528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 Portals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340864" y="4224528"/>
            <a:ext cx="950976" cy="512064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340864" y="4224528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Admin Consoles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374136" y="4224528"/>
            <a:ext cx="950976" cy="512064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374136" y="4224528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Compliance UIs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407408" y="4224528"/>
            <a:ext cx="950976" cy="512064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407408" y="4224528"/>
            <a:ext cx="9509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Internal Tools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28" name="Google Shape;328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98031" y="1062059"/>
            <a:ext cx="5279809" cy="282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 ·  INDEPENDENT USE vs. OPSFOLIO SUITE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1800"/>
              <a:buFont typeface="Calibri" panose="020F0502020204030204"/>
              <a:buNone/>
            </a:pPr>
            <a:r>
              <a:rPr lang="en-US" sz="180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 developer experience. Your choice of scope.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274320" y="1051560"/>
            <a:ext cx="41605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274320" y="1051560"/>
            <a:ext cx="4160520" cy="34747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74320" y="1261872"/>
            <a:ext cx="4160520" cy="13716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11480" y="10789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— Standalone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1" name="Google Shape;341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1572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685800" y="153619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pipeline tool (ELT from any source → RSSD)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3" name="Google Shape;343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2048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685800" y="2011680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Local-first observability (Contextual Unified Activity Records)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5" name="Google Shape;345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25237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/>
          <p:nvPr/>
        </p:nvSpPr>
        <p:spPr>
          <a:xfrm>
            <a:off x="685800" y="248716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SQL-native message queue without Kafka/RabbitMQ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7" name="Google Shape;347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2999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/>
          <p:nvPr/>
        </p:nvSpPr>
        <p:spPr>
          <a:xfrm>
            <a:off x="685800" y="2962656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AI/RAG backend — structured Operational Truth as LLM context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9" name="Google Shape;349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3474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/>
          <p:nvPr/>
        </p:nvSpPr>
        <p:spPr>
          <a:xfrm>
            <a:off x="685800" y="343814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Portable evidence store for security tools (osquery, Trivy)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1" name="Google Shape;351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11480" y="39502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85800" y="391363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One-command web dashboards via SQL Pages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709160" y="1051560"/>
            <a:ext cx="41605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709160" y="1051560"/>
            <a:ext cx="4160520" cy="34747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709160" y="1261872"/>
            <a:ext cx="4160520" cy="13716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846320" y="10789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inside Opsfolio Suite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7" name="Google Shape;357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1572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5120640" y="153619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Powers the Evidence Warehouse — all Opsfolio controls store evidence here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9" name="Google Shape;359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2048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5120640" y="2011680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 reads fleet telemetry from surveilr RSSDs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1" name="Google Shape;361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25237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5120640" y="248716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 orchestration sessions stored in surveilr tables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3" name="Google Shape;363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2999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5120640" y="2962656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GRC policy layer queries surveilr for control satisfaction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5" name="Google Shape;365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3474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/>
          <p:nvPr/>
        </p:nvSpPr>
        <p:spPr>
          <a:xfrm>
            <a:off x="5120640" y="3438144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Continuous audit posture = live SQL across surveilr evidence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7" name="Google Shape;367;p1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46320" y="39502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5120640" y="391363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 panose="020F0502020204030204"/>
              <a:buNone/>
            </a:pPr>
            <a:r>
              <a:rPr lang="en-US" sz="90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Framework-agnostic: SOC 2, CMMC, HIPAA, ISO 27001 from one RSSD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800"/>
              <a:buFont typeface="Calibri" panose="020F0502020204030204"/>
              <a:buNone/>
            </a:pPr>
            <a:r>
              <a:rPr lang="en-US" sz="800" i="1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is always the same binary — no "Suite edition" vs "Community edition" distinction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 ·  WHAT IS IT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65760" y="5486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urier New" panose="02070309020205020404"/>
              <a:buNone/>
            </a:pPr>
            <a:r>
              <a:rPr lang="en-US" sz="400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</a:t>
            </a:r>
            <a:endParaRPr sz="4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365760" y="11887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2B3D0"/>
              </a:buClr>
              <a:buSzPts val="1300"/>
              <a:buFont typeface="Calibri" panose="020F0502020204030204"/>
              <a:buNone/>
            </a:pPr>
            <a:r>
              <a:rPr lang="en-US" sz="1300" i="1">
                <a:solidFill>
                  <a:srgbClr val="82B3D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Curator &amp; Markdown-as-a-Programmable-Medium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365760" y="15544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 panose="020F0502020204030204"/>
              <a:buNone/>
            </a:pPr>
            <a:r>
              <a:rPr lang="en-US" sz="1000" i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Markdown to code, build, and orchestrate intelligence.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274320" y="1920240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274320" y="1920240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57200" y="20299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 as Code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57200" y="235915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Dashboards, queries, metrics in Markdown.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Version and review like code.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3182112" y="1920240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182112" y="1920240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364992" y="20299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Executable Runbooks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3364992" y="235915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 procedures as Markdown.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step is a runnable cell.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089904" y="1920240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089904" y="1920240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272784" y="20299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Libraries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272784" y="235915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Reusable type-safe SQL fragments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[PI] + {attrs} binding.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274320" y="3310128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274320" y="3310128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457200" y="341985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Migrations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57200" y="37490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Pure SQL + CTEs. Idempotent.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migration framework required.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3182112" y="3310128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3182112" y="3310128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3364992" y="341985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Context Eng.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3364992" y="37490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 prompts, embeddings, RAG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pipelines as Markdown cells.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089904" y="3310128"/>
            <a:ext cx="2743200" cy="1280160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6089904" y="3310128"/>
            <a:ext cx="91440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272784" y="341985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 Warehouses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272784" y="37490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Audit-ready notebooks: code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outputs for SOC2/HIPAA proof.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 ·  EXECUTABLE MARKDOWN &amp; TASK DAG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fenced code block is a runnable cell. Dependencies wire a DAG.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274320" y="1024128"/>
            <a:ext cx="5120640" cy="3977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11480" y="1078992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Spryfile.md — named tasks + deps + SQL routes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11480" y="1261872"/>
            <a:ext cx="4846320" cy="363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Spryfile.md — a complete application in one Markdown file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## setup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```bash create-db --descr "Create database file"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rm -f app.db &amp;&amp; sqlite3 app.db "VACUUM;"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```bash setup-schema --dep create-db --descr "Apply schema"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sqlite3 app.db &lt; schema.sql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```bash seed-data --dep setup-schema --descr "Load seed rows"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sqlite3 app.db &lt; seed.sql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```bash deploy --dep setup-schema --dep seed-data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echo “Deployment completed”</a:t>
            </a:r>
            <a:b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</a:b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lang="en-US" sz="850">
              <a:solidFill>
                <a:srgbClr val="7EC8A4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## Routes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```sql index.sql { route: '/' }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'hero'    AS component,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'My App'  AS title,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'Built with Spry' AS description;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```sql users.sql { route: '/users', cache: 60 }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'table'   AS component;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id, name, email FROM users;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577840" y="3154680"/>
            <a:ext cx="3337560" cy="18470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715000" y="3209544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directives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5715000" y="349300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--descr "..."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7269480" y="349300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Human description of the task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5715000" y="384048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--dep &lt;name&gt;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7269480" y="38404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Dependency on another named task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715000" y="41879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 route: '/' }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269480" y="41879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cell becomes a SQLPage URL route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715000" y="453542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 cache: 60 }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7269480" y="453542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 route response for N seconds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26" name="Google Shape;426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77840" y="1054100"/>
            <a:ext cx="3323590" cy="1988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 ·  CLI &amp; QUICK START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Bootstrap to running app in seconds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274320" y="1024128"/>
            <a:ext cx="429768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11480" y="1078992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$ 1. Install Spry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11480" y="1261872"/>
            <a:ext cx="4023360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macOS / Linux — Homebrew (recommended)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install programmablemd/packages/spry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Initialize a new Spry project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sp init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Verify installation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--version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274320" y="2980944"/>
            <a:ext cx="429768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11480" y="3035808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$ 2. Develop &amp; run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11480" y="3218688"/>
            <a:ext cx="4023360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Generate SQLPage filesystem + watch for changes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sp spc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--fs dev-src.auto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--conf sqlpage/sqlpage.json \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--watch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In another terminal — execute all tasks (DAG)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rb run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Run a specific task + its deps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rb task deploy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754880" y="1024128"/>
            <a:ext cx="4160520" cy="37856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892040" y="1078992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ourier New" panose="02070309020205020404"/>
              <a:buNone/>
            </a:pPr>
            <a:r>
              <a:rPr lang="en-US" sz="75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CLI reference — spry &lt;command&gt;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4773168" y="1371600"/>
            <a:ext cx="4133088" cy="43891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892040" y="14081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run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6858000" y="14081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Execute ALL tasks in dependency order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773168" y="1847088"/>
            <a:ext cx="4133088" cy="43891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4892040" y="188366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task &lt;name&gt;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6858000" y="188366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 one task + its prerequisites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773168" y="2322576"/>
            <a:ext cx="4133088" cy="43891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4892040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spc --fs &lt;dir&gt;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858000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 Spryfile → SQLPage filesystem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773168" y="2798064"/>
            <a:ext cx="4133088" cy="43891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4892040" y="28346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spc --watch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858000" y="28346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Live reload on Markdown changes (dev)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773168" y="3273552"/>
            <a:ext cx="4133088" cy="43891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4892040" y="33101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spc --conf &lt;file&gt;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6858000" y="33101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Specify SQLPage config (dev vs prod)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4773168" y="3749040"/>
            <a:ext cx="4133088" cy="438912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4892040" y="378561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--dialect sqlite|postgres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6858000" y="378561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Choose database at init time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4773168" y="4224528"/>
            <a:ext cx="4133088" cy="438912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4892040" y="426110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--target-dir &lt;path&gt;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6858000" y="426110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project directory at bootstrap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📸  Screenshot placeholder: 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1" action="ppaction://hlinksldjump"/>
              </a:rPr>
              <a:t>Spry CLI — spry </a:t>
            </a:r>
            <a:r>
              <a:rPr lang="en-US" sz="750" i="1" dirty="0" err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1" action="ppaction://hlinksldjump"/>
              </a:rPr>
              <a:t>rb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1" action="ppaction://hlinksldjump"/>
              </a:rPr>
              <a:t> run output showing task DAG execution with ✓ / ✗ per cell</a:t>
            </a:r>
            <a:endParaRPr sz="75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SPRY  ·  CLI &amp; QUICK START</a:t>
            </a:r>
            <a:endParaRPr lang="en-US" sz="90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50" y="1760582"/>
            <a:ext cx="5639617" cy="1948231"/>
          </a:xfrm>
          <a:prstGeom prst="rect">
            <a:avLst/>
          </a:prstGeom>
        </p:spPr>
      </p:pic>
      <p:sp>
        <p:nvSpPr>
          <p:cNvPr id="42" name="Shape 51"/>
          <p:cNvSpPr/>
          <p:nvPr/>
        </p:nvSpPr>
        <p:spPr>
          <a:xfrm>
            <a:off x="8317653" y="4800947"/>
            <a:ext cx="571500" cy="27432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IN"/>
          </a:p>
        </p:txBody>
      </p:sp>
      <p:sp>
        <p:nvSpPr>
          <p:cNvPr id="43" name="Text 52"/>
          <p:cNvSpPr/>
          <p:nvPr/>
        </p:nvSpPr>
        <p:spPr>
          <a:xfrm>
            <a:off x="8454813" y="4800947"/>
            <a:ext cx="349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hlinkClick r:id="rId2" action="ppaction://hlinksldjump"/>
              </a:rPr>
              <a:t>close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 ·  SQLPAGE ROUTES &amp; EVIDENCE WAREHOUSES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cells become web routes. Notebooks become audit artifacts.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274320" y="1005840"/>
            <a:ext cx="5303520" cy="23317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411480" y="1060704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Spryfile.md — SQL cells wired to URL routes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411480" y="1243584"/>
            <a:ext cx="4846320" cy="198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```sql dashboard.sql { route: '/admin/dashboard', cache: 300 }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Named *.sql cell → SQLPage URL at /admin/dashboard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'hero'         AS component,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'Control Posture' AS title;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'table'        AS component,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'Active Gaps'  AS title;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control_id, gap_type, detected_at, severity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control_gaps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resolved_at IS NULL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severity DESC;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```sql evidence.sql { route: '/evidence' }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'table' AS component, 'Evidence Log' AS title;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uri, content_digest, last_modified_at, nature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uniform_resource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last_modified_at &gt; datetime('now', '-30 days');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274319" y="3474720"/>
            <a:ext cx="5303521" cy="1572768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11480" y="3529584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Evidence Warehouse — executable quality checks as SQL cells (Soda.io alternative)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11481" y="3712464"/>
            <a:ext cx="516636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Evidence Warehouse — Data Quality as Code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Each check is a SQL cell that fails loudly on violation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```sql check-null-evidence --descr "No orphaned evidence"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CASE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WHEN COUNT(*) &gt; 0 THEN error('Orphaned evidence records found: ' || COUNT(*))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ELSE 'PASS: all evidence linked to controls'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uniform_resource ur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LEFT JOIN control_evidence ce ON ce.resource_id = ur.uniform_resource_id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ce.control_id IS NULL;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```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80" name="Google Shape;480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100" y="3474720"/>
            <a:ext cx="3393024" cy="1073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69806" y="1019386"/>
            <a:ext cx="3459594" cy="2249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 ·  INDEPENDENT USE vs. OPSFOLIO SUITE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1800"/>
              <a:buFont typeface="Calibri" panose="020F0502020204030204"/>
              <a:buNone/>
            </a:pPr>
            <a:r>
              <a:rPr lang="en-US" sz="180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complete developer tool on its own.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274320" y="1024128"/>
            <a:ext cx="8595360" cy="347472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365760" y="102412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Case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2103120" y="102412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Standalone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5440680" y="102412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Inside Opsfolio Suite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274320" y="1426464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365760" y="1481328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engineering pipelines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2103120" y="1481328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Mix SQL/Bash/TS in one Markdown. --dep wires DAG. Replaces dbt + Makefile.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440680" y="1481328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pipelines ingest + transform data that lands in surveilr RSSDs for Opsfolio controls.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274320" y="2084832"/>
            <a:ext cx="8595360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65760" y="2139696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Internal dashboards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2103120" y="2139696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 SQL cells named *.sql. and spry sp spc serves them as a web app instantly.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440680" y="2139696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authors the SQLPage views used by Fleetfolio and Qualityfolio dashboards.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274320" y="2743200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365760" y="2798064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Runbooks / SRE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2103120" y="2798064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Executable Markdown procedures with real Bash cells. Single source of truth for ops.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440680" y="2798064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uses Spry runbooks to encode and execute control testing procedures.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274320" y="3401568"/>
            <a:ext cx="8595360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365760" y="3456432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Quality checks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2103120" y="3456432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cells as executable tests. Fail loudly. Re-run on every push. No YAML.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5440680" y="3456432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Control predicate checks (φᵢ(Eₜ)) are authored and run as Spry SQL cells.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274320" y="4059936"/>
            <a:ext cx="8595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365760" y="4114800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context pipelines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2103120" y="4114800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546E7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Version prompts, embeddings, retrieval as cells. Reproducible RAG with full traceability.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440680" y="4114800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AI Workforce™ agents are orchestrated by Spry for evidence collection tasks.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274320" y="4754880"/>
            <a:ext cx="8595360" cy="219456"/>
          </a:xfrm>
          <a:prstGeom prst="rect">
            <a:avLst/>
          </a:prstGeom>
          <a:solidFill>
            <a:srgbClr val="E8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457200" y="47548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800"/>
              <a:buFont typeface="Calibri" panose="020F0502020204030204"/>
              <a:buNone/>
            </a:pPr>
            <a:r>
              <a:rPr lang="en-US" sz="800" i="1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 has no dependency on surveilr. All features work standalone with any SQLite or PostgreSQL database.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  ·  SQL-NATIVE EDR BUILT ON SURVEILR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365760" y="566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 panose="020F0502020204030204"/>
              <a:buNone/>
            </a:pPr>
            <a:r>
              <a:rPr lang="en-US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endParaRPr sz="3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365760" y="10972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Device state you can query. Evidence you can prove.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274320" y="1481328"/>
            <a:ext cx="8595360" cy="1207008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457200" y="15361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FLEETFOLIO USES SURVEILR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36576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36576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osquery agents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178308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178308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Steampipe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320040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320040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cnquery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61772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461772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SNMP polling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603504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03504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Cloud APIs (AWS/Azure/GCP)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7452360" y="1792224"/>
            <a:ext cx="1298448" cy="256032"/>
          </a:xfrm>
          <a:prstGeom prst="rect">
            <a:avLst/>
          </a:prstGeom>
          <a:solidFill>
            <a:srgbClr val="0D31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7452360" y="179222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Vuln scanners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5760" y="2103120"/>
            <a:ext cx="8412480" cy="36576"/>
          </a:xfrm>
          <a:prstGeom prst="rect">
            <a:avLst/>
          </a:prstGeom>
          <a:solidFill>
            <a:srgbClr val="006D62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3200400" y="2176272"/>
            <a:ext cx="274320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3200400" y="21762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RSSD  →  Fleetfolio SQL Views + SQL Pages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274320" y="2633472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274320" y="2633472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384048" y="27614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Detection &amp; Response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384048" y="3054096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SQL-native rules. Detection = evidence. Timestamped + auditable.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3182112" y="2633472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3182112" y="2633472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3291840" y="27614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Asset Reconciliation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3291840" y="3054096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Expected vs Observed: MATCHED / MISSING / UNEXPECTED / RELOCATED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6089904" y="2633472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6089904" y="2633472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6199632" y="27614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Posture &amp; Policies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6199632" y="3054096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disk_encrypted, firewall, OS version. Drift alerts with before/after snapshots.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274320" y="3712464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274320" y="3712464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384048" y="384048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Threat Exposure Mgmt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384048" y="4133088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Pen test orchestration. CVE correlation. POA&amp;M generation.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3182112" y="3712464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3182112" y="3712464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3291840" y="384048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Cloud Cost Discovery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3291840" y="4133088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Idle/oversized/zombie resources flagged. Savings in dollar amounts.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6089904" y="3712464"/>
            <a:ext cx="2743200" cy="969264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6089904" y="3712464"/>
            <a:ext cx="2743200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6199632" y="384048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Compliance Mapping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6199632" y="4133088"/>
            <a:ext cx="252374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SOC2, CMMC, FedRAMP, HIPAA, ISO 27001, NIST 800-53 out of box.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  ·  SQL-NATIVE DETECTION &amp; ASSET RECONCILIATION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Detection rules are SQL. Evidence is SQL. Reconciliation is SQL.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274320" y="1005840"/>
            <a:ext cx="4297680" cy="14173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411480" y="106070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Detection — Policy as SQL query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411480" y="1243584"/>
            <a:ext cx="402336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Policy: all laptops MUST have disk encryption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Detection fires as a row in device_posture_violations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hostname, disk_encrypted, os_version, last_seen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device_posture dp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JOIN   device_inventory di ON dp.device_id = di.device_id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di.device_type    = 'laptop'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 dp.disk_encrypted = FALSE;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4754880" y="1005840"/>
            <a:ext cx="4160520" cy="224028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4892040" y="1060704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Asset Reconciliation — Expected vs Observed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4892040" y="1243584"/>
            <a:ext cx="3886200" cy="18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Asset reconciliation: Expected vs Observed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Status: MATCHED | MISSING | UNEXPECTED | RELOCATED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COALESCE(e.asset_tag, d.serial_number) AS asset_id,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e.expected_location, d.observed_location,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CASE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WHEN e.asset_tag IS NULL                        THEN 'UNEXPECTED'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WHEN d.serial_number IS NULL                    THEN 'MISSING'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WHEN e.expected_location != d.observed_location THEN 'RELOCATED'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ELSE 'MATCHED'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END AS reconciliation_status,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d.last_seen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expected_assets 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FULL OUTER JOIN device_inventory d ON e.asset_tag = d.asset_tag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e.asset_tag IS NULL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 d.serial_number IS NULL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 e.expected_location != d.observed_location;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274320" y="2560320"/>
            <a:ext cx="4297680" cy="1691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411480" y="261518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Drift Detection — before/after evidence snapshots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411480" y="2798064"/>
            <a:ext cx="402336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Drift detection: devices that WERE encrypted, now aren't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hostname, changed_at,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old_value AS was_encrypted,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new_value AS now_encrypted,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evidence_before, evidence_after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device_posture_changes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field     = 'disk_encrypted'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 old_value = TRUE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 new_value = FALSE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changed_at DESC;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Each row has before/after evidence snapshots + audit trail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274320" y="4389120"/>
            <a:ext cx="4297680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411480" y="444398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Evidence — complete incident package from one SQL query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411480" y="4626864"/>
            <a:ext cx="402336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-- Full incident evidence package (for any detection ID)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SELECT detection_id, detection_rule, detected_at,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      hostname, evidence_snapshot, remediation_status,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      remediation_completed_at, audit_chain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FROM   detection_events d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WHERE  detection_id = 'DET-2024-0847';</a:t>
            </a:r>
            <a:endParaRPr sz="800">
              <a:solidFill>
                <a:schemeClr val="dk1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  <a:sym typeface="Calibri" panose="020F0502020204030204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4754880" y="4919472"/>
            <a:ext cx="416052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4892040" y="4919472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00"/>
              <a:buFont typeface="Courier New" panose="02070309020205020404"/>
              <a:buNone/>
            </a:pPr>
            <a:r>
              <a:rPr lang="en-US" sz="700" i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📸  Fleetfolio SQL Pages — posture drift timeline: disk_encrypted TRUE → FALSE events over 30 days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88" name="Google Shape;588;p19">
            <a:hlinkClick r:id="rId1" action="ppaction://hlinksldjump"/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15839" y="3349749"/>
            <a:ext cx="4072467" cy="155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4F72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FLEETFOLIO  ·  SQL-NATIVE DETECTION &amp; ASSET RECONCILIATION</a:t>
            </a:r>
            <a:endParaRPr lang="en-US" sz="9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27947" y="778926"/>
            <a:ext cx="7214731" cy="3901455"/>
          </a:xfrm>
          <a:prstGeom prst="rect">
            <a:avLst/>
          </a:prstGeom>
        </p:spPr>
      </p:pic>
      <p:sp>
        <p:nvSpPr>
          <p:cNvPr id="15" name="Shape 51"/>
          <p:cNvSpPr/>
          <p:nvPr/>
        </p:nvSpPr>
        <p:spPr>
          <a:xfrm>
            <a:off x="8317653" y="4800947"/>
            <a:ext cx="571500" cy="27432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52"/>
          <p:cNvSpPr/>
          <p:nvPr/>
        </p:nvSpPr>
        <p:spPr>
          <a:xfrm>
            <a:off x="8454813" y="4800947"/>
            <a:ext cx="349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hlinkClick r:id="rId2" action="ppaction://hlinksldjump"/>
              </a:rPr>
              <a:t>close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  ·  TEST MANAGEMENT AS CODE ON SURVEILR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365760" y="56692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</a:t>
            </a: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365760" y="106984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 panose="020F0502020204030204"/>
              <a:buNone/>
            </a:pPr>
            <a:r>
              <a:rPr lang="en-US" sz="1000" i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Evidence-Driven Quality Telemetry — Test Management as Code (TMaC)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274320" y="1417320"/>
            <a:ext cx="4114800" cy="987552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411480" y="1463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TMaC ARTIFACT HIERARCHY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41148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41148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92354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96012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96012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Strategy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147218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150876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150876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Suite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202082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205740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205740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Plan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256946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260604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260604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Cycle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311810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3154680" y="1719072"/>
            <a:ext cx="512064" cy="548640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315468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Test Case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3666744" y="1810512"/>
            <a:ext cx="36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3703320" y="1719072"/>
            <a:ext cx="512064" cy="54864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703320" y="1719072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 panose="020F0502020204030204"/>
              <a:buNone/>
            </a:pPr>
            <a:r>
              <a:rPr lang="en-US" sz="6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Evidence</a:t>
            </a:r>
            <a:endParaRPr sz="6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274320" y="2487168"/>
            <a:ext cx="4114800" cy="26060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411480" y="254203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TC-001.case.md — Markdown test case with YAML frontmatter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411480" y="2724912"/>
            <a:ext cx="3840480" cy="2258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---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test_case_id: "TC-001"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title: "Verify MFA enforcement for PHI-bearing endpoints"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type: test_case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test_plan: TP-001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test_type: "Manual"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priority: "High"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tags: ["Security", "HIPAA", "SOC2-CC6.1"]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---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## Test Steps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1. Navigate to /api/phi-data without MFA token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2. Confirm HTTP 401 with MFA_REQUIRED error code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3. Complete MFA challenge and retry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4. Confirm HTTP 200 and access granted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 panose="020F0502020204030204"/>
              <a:buNone/>
            </a:pP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## Expected Result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Access denied without MFA; granted after MFA challenge.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4572000" y="1417320"/>
            <a:ext cx="4343400" cy="3675888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4709160" y="146304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QUALITYFOLIO USES SURVEILR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4709160" y="1755648"/>
            <a:ext cx="329184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4709160" y="1755648"/>
            <a:ext cx="329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5120640" y="178308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5120640" y="2029968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Markdown + YAML test cases in Git. Full PR review workflow.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4709160" y="2359152"/>
            <a:ext cx="329184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4709160" y="2359152"/>
            <a:ext cx="329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5120640" y="2386584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Ingest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5120640" y="2633472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 ingest files — Markdown artifacts land in RSSD.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4709160" y="2962656"/>
            <a:ext cx="329184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4709160" y="2962656"/>
            <a:ext cx="329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5120640" y="299008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5120640" y="3236976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CLI/CI/manual run. Results captured as structured JSON evidence.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4709160" y="3566160"/>
            <a:ext cx="329184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4709160" y="3566160"/>
            <a:ext cx="329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5120640" y="359359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Store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5120640" y="3840480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orchestration_session + orchestration_session_exec tables in RSSD.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4709160" y="4169664"/>
            <a:ext cx="329184" cy="502920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4709160" y="4169664"/>
            <a:ext cx="3291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5120640" y="419709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5120640" y="4443984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evidence available instantly. Auditor self-service via SQL Pages.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4572000" y="4809744"/>
            <a:ext cx="43434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4709160" y="48097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📸  </a:t>
            </a:r>
            <a:r>
              <a:rPr lang="en-US" sz="750" i="1" dirty="0" err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Qualityfolio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web UI — 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1" action="ppaction://hlinksldjump"/>
              </a:rPr>
              <a:t>test cycle dashboard with pass/fail charts and evidence explorer</a:t>
            </a:r>
            <a:endParaRPr sz="75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B5A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QUALITYFOLIO  ·  TEST MANAGEMENT AS CODE ON SURVEILR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9464" y="1810512"/>
            <a:ext cx="36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8104" y="1810512"/>
            <a:ext cx="36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66744" y="1810512"/>
            <a:ext cx="36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331200" y="4709160"/>
            <a:ext cx="571500" cy="27432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468360" y="4709160"/>
            <a:ext cx="349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hlinkClick r:id="rId1" action="ppaction://hlinksldjump"/>
              </a:rPr>
              <a:t>close</a:t>
            </a:r>
            <a:endParaRPr lang="en-US" sz="7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257" y="647064"/>
            <a:ext cx="5629783" cy="4182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  ·  SQL EVIDENCE &amp; COMPLIANCE QUERIES</a:t>
            </a:r>
            <a:endParaRPr sz="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test result is a queryable, immutable SQL row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274320" y="1005840"/>
            <a:ext cx="4297680" cy="2514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411480" y="106070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Evidence schema — immutable, timestamped, auditable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7" name="Google Shape;657;p21"/>
          <p:cNvSpPr/>
          <p:nvPr/>
        </p:nvSpPr>
        <p:spPr>
          <a:xfrm>
            <a:off x="411480" y="1243584"/>
            <a:ext cx="4023360" cy="216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surveilr orchestration tables (Qualityfolio's evidence schema)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TABLE orchestration_session (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orchestration_session_id  TEXT PRIMARY KEY,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device_id                 TEXT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orchestration_nature_id   TEXT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version                   TEXT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orch_started_at           TIMESTAMPTZ NOT NULL,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orch_finished_at          TIMESTAMPTZ,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diagnostics_json          JSONB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TABLE orchestration_session_exec (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orchestration_session_exec_id  TEXT PRIMARY KEY,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orchestration_session_id       TEXT REFERENCES orchestration_session,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exec_nature                    TEXT NOT NULL,   -- test name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exec_status                    TEXT NOT NULL,   -- PASSED | FAILED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exec_code                      TEXT NOT NULL,   -- test body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output_text                    TEXT,            -- captured output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narrative_md                   TEXT             -- evidence narrative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8" name="Google Shape;658;p21"/>
          <p:cNvSpPr/>
          <p:nvPr/>
        </p:nvSpPr>
        <p:spPr>
          <a:xfrm>
            <a:off x="4754880" y="1005840"/>
            <a:ext cx="4160520" cy="18288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4892040" y="1060704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SOC 2 evidence query — Q3 access controls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4892040" y="1243584"/>
            <a:ext cx="3886200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SOC 2: all access control tests in Q3 2025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ose.exec_nature   AS test_name,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ose.exec_status   AS status,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os.orch_started_at AS execution_time,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ose.narrative_md  AS evidence_summary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orchestration_session_exec ose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JOIN   orchestration_session os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ON   ose.orchestration_session_id = os.orchestration_session_id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 ose.exec_nature LIKE '%access-control%'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AND  os.orch_started_at BETWEEN '2025-07-01' AND '2025-09-30'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os.orch_started_at DESC;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4754880" y="2962656"/>
            <a:ext cx="4160520" cy="1664208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4892040" y="3017520"/>
            <a:ext cx="3886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Flaky test detection — assurance risk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4892040" y="3200400"/>
            <a:ext cx="388620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-- Flaky tests — assurance risk report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ose.exec_nature AS test_name,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COUNT(*)        AS total_runs,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SUM(CASE WHEN ose.exec_status='PASSED' THEN 1 ELSE 0 END) AS passes,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ROUND(100.0 * SUM(CASE WHEN ose.exec_status='PASSED'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                    THEN 1 ELSE 0 END) / COUNT(*), 2) AS pass_rate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  orchestration_session_exec ose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GROUP  BY ose.exec_nature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HAVING COUNT(*) &gt; 5 AND pass_rate &lt; 95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 BY pass_rate ASC;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274320" y="3657600"/>
            <a:ext cx="4297680" cy="975685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5" name="Google Shape;665;p21"/>
          <p:cNvSpPr/>
          <p:nvPr/>
        </p:nvSpPr>
        <p:spPr>
          <a:xfrm>
            <a:off x="411480" y="3712464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00"/>
              <a:buFont typeface="Courier New" panose="02070309020205020404"/>
              <a:buNone/>
            </a:pPr>
            <a:r>
              <a:rPr lang="en-US" sz="700" b="1">
                <a:solidFill>
                  <a:srgbClr val="00A99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Install &amp; run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411480" y="3901765"/>
            <a:ext cx="4235264" cy="81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50"/>
              <a:buFont typeface="Courier New" panose="02070309020205020404"/>
              <a:buNone/>
            </a:pP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Install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run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Qualityfolio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launch UI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spry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rb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run qualityfolio.md</a:t>
            </a:r>
            <a:endParaRPr lang="en-US" sz="850">
              <a:solidFill>
                <a:srgbClr val="7EC8A4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spry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sp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spc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--fs dev-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src.auto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--destroy-first --conf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sqlpage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/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sqlpage.json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--md qualityfolio.md</a:t>
            </a:r>
            <a:endParaRPr lang="en-US" sz="850">
              <a:solidFill>
                <a:srgbClr val="7EC8A4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EOH_INSTANCE=1 PORT=9227 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surveilr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web-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ui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-d ./resource-</a:t>
            </a:r>
            <a:r>
              <a:rPr lang="en-US" sz="850" err="1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surveillance.sqlite.db</a:t>
            </a:r>
            <a:r>
              <a:rPr lang="en-US" sz="850">
                <a:solidFill>
                  <a:srgbClr val="7EC8A4"/>
                </a:solidFill>
                <a:latin typeface="Courier New" panose="02070309020205020404"/>
                <a:cs typeface="Courier New" panose="02070309020205020404"/>
                <a:sym typeface="Courier New" panose="02070309020205020404"/>
              </a:rPr>
              <a:t> --port 9227 --host 0.0.0.0</a:t>
            </a:r>
            <a:endParaRPr lang="en-US" sz="850">
              <a:solidFill>
                <a:srgbClr val="7EC8A4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750"/>
              <a:buFont typeface="Courier New" panose="02070309020205020404"/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📸  </a:t>
            </a:r>
            <a:r>
              <a:rPr lang="en-US" sz="750" i="1" dirty="0" err="1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Qualityfolio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— </a:t>
            </a:r>
            <a:r>
              <a:rPr lang="en-US" sz="750" i="1" dirty="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1" action="ppaction://hlinksldjump"/>
              </a:rPr>
              <a:t>SOC 2 evidence package view: test name, status, timestamp, evidence hash per row</a:t>
            </a:r>
            <a:endParaRPr sz="75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B5A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QUALITYFOLIO  ·  SQL EVIDENCE &amp; COMPLIANCE QUERIES</a:t>
            </a:r>
            <a:endParaRPr lang="en-US" sz="9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94" y="411480"/>
            <a:ext cx="8891405" cy="4391971"/>
          </a:xfrm>
          <a:prstGeom prst="rect">
            <a:avLst/>
          </a:prstGeom>
        </p:spPr>
      </p:pic>
      <p:sp>
        <p:nvSpPr>
          <p:cNvPr id="23" name="Shape 51"/>
          <p:cNvSpPr/>
          <p:nvPr/>
        </p:nvSpPr>
        <p:spPr>
          <a:xfrm>
            <a:off x="8439571" y="4845249"/>
            <a:ext cx="571500" cy="27432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endParaRPr lang="en-IN"/>
          </a:p>
        </p:txBody>
      </p:sp>
      <p:sp>
        <p:nvSpPr>
          <p:cNvPr id="24" name="Text 52"/>
          <p:cNvSpPr/>
          <p:nvPr/>
        </p:nvSpPr>
        <p:spPr>
          <a:xfrm>
            <a:off x="8576731" y="4845249"/>
            <a:ext cx="3492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hlinkClick r:id="rId2" action="ppaction://hlinksldjump"/>
              </a:rPr>
              <a:t>close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D6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OPSFOLIO SUITE — GRC ENGINEERING PLATFORM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400"/>
              <a:buFont typeface="Calibri" panose="020F0502020204030204"/>
              <a:buNone/>
            </a:pPr>
            <a:r>
              <a:rPr lang="en-US" sz="1400" i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Compliance is not a document state. It is a computational invariant.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274320" y="1078992"/>
            <a:ext cx="8595360" cy="1078992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457200" y="1133856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750"/>
              <a:buFont typeface="Calibri" panose="020F0502020204030204"/>
              <a:buNone/>
            </a:pPr>
            <a:r>
              <a:rPr lang="en-US" sz="75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OPERATIONAL TRUTH™ INVARIANT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914400" y="138988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 panose="02070309020205020404"/>
              <a:buNone/>
            </a:pPr>
            <a:r>
              <a:rPr lang="en-US" sz="1800" b="1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∀ cᵢ ∈ C, ∀ t :  φᵢ(Eₜ) ∨ gᵢ(t)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914400" y="1664208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 panose="020F0502020204030204"/>
              <a:buNone/>
            </a:pPr>
            <a:r>
              <a:rPr lang="en-US" sz="850" i="1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all controls and all times — control is satisfied OR a gap signal is asserted. No unknown state.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274320" y="2286000"/>
            <a:ext cx="2029968" cy="2487168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274320" y="2286000"/>
            <a:ext cx="2029968" cy="73152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384048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384048" y="2706624"/>
            <a:ext cx="1810512" cy="237744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384048" y="2706624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Eₜ — Evidence State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384048" y="2999232"/>
            <a:ext cx="181051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Ingests telemetry from all systems. Every RSSD row is a timestamped, immutable observed evidence point.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2450592" y="2286000"/>
            <a:ext cx="2029968" cy="2487168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2450592" y="2286000"/>
            <a:ext cx="2029968" cy="7315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2560320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2560320" y="2706624"/>
            <a:ext cx="1810512" cy="237744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2560320" y="2706624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φᵢ — Control Predicates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2560320" y="2999232"/>
            <a:ext cx="181051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cells express the expected control conditions. They're versioned, reviewed, and continuously evaluated.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4626864" y="2286000"/>
            <a:ext cx="2029968" cy="2487168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4626864" y="2286000"/>
            <a:ext cx="2029968" cy="731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4736592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4736592" y="2706624"/>
            <a:ext cx="1810512" cy="237744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4736592" y="2706624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 Surface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4736592" y="2999232"/>
            <a:ext cx="181051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Contributes device state, posture, and security telemetry as Eₜ evidence for infrastructure controls.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6803136" y="2286000"/>
            <a:ext cx="2029968" cy="2487168"/>
          </a:xfrm>
          <a:prstGeom prst="rect">
            <a:avLst/>
          </a:prstGeom>
          <a:solidFill>
            <a:srgbClr val="0D2035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6803136" y="2286000"/>
            <a:ext cx="2029968" cy="73152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6912864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6912864" y="2706624"/>
            <a:ext cx="1810512" cy="237744"/>
          </a:xfrm>
          <a:prstGeom prst="rect">
            <a:avLst/>
          </a:prstGeom>
          <a:solidFill>
            <a:srgbClr val="0A182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6912864" y="2706624"/>
            <a:ext cx="18105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 Surface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6912864" y="2999232"/>
            <a:ext cx="181051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50"/>
              <a:buFont typeface="Calibri" panose="020F0502020204030204"/>
              <a:buNone/>
            </a:pPr>
            <a:r>
              <a:rPr lang="en-US" sz="750">
                <a:solidFill>
                  <a:srgbClr val="B0BEC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Contributes test execution records and assurance evidence as Eₜ for software and process controls.</a:t>
            </a:r>
            <a:endParaRPr sz="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Three control states: ✓ Satisfied  ✗ Failed (gap asserted)  ⚠ Not Observed (coverage gap)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000"/>
              <a:buFont typeface="Calibri" panose="020F0502020204030204"/>
              <a:buNone/>
            </a:pPr>
            <a:r>
              <a:rPr lang="en-US" sz="10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CHOOSE YOUR DEVELOPER PATH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240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0A22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Every tool works independently. Compose as you grow.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201168" y="969264"/>
            <a:ext cx="2084832" cy="3968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201168" y="969264"/>
            <a:ext cx="2084832" cy="566928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201168" y="1298448"/>
            <a:ext cx="2084832" cy="23774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18" name="Google Shape;718;p2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92608" y="1024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3"/>
          <p:cNvSpPr/>
          <p:nvPr/>
        </p:nvSpPr>
        <p:spPr>
          <a:xfrm>
            <a:off x="694944" y="102412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1 — surveilr Standalone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310896" y="1664208"/>
            <a:ext cx="237744" cy="23774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310896" y="166420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621792" y="164592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install surveilr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310896" y="2231136"/>
            <a:ext cx="237744" cy="23774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310896" y="22311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621792" y="221284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ingest files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310896" y="2798064"/>
            <a:ext cx="237744" cy="23774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310896" y="27980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621792" y="277977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shell pattern.sql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310896" y="3364992"/>
            <a:ext cx="237744" cy="23774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310896" y="3364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621792" y="334670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web-ui --port 3010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274320" y="4169664"/>
            <a:ext cx="1938528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310896" y="4206240"/>
            <a:ext cx="186537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for: data engineers, SRE, observability, compliance evidence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2414016" y="969264"/>
            <a:ext cx="2084832" cy="3968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2414016" y="969264"/>
            <a:ext cx="2084832" cy="56692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2414016" y="1298448"/>
            <a:ext cx="2084832" cy="23774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37" name="Google Shape;737;p2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456" y="1024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3"/>
          <p:cNvSpPr/>
          <p:nvPr/>
        </p:nvSpPr>
        <p:spPr>
          <a:xfrm>
            <a:off x="2907792" y="102412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2 — Spry Standalone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2523744" y="1664208"/>
            <a:ext cx="237744" cy="23774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2523744" y="166420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2834640" y="164592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install programmablemd/packages/spry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2523744" y="2231136"/>
            <a:ext cx="237744" cy="23774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2523744" y="22311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2834640" y="221284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Author Spryfile.md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2523744" y="2798064"/>
            <a:ext cx="237744" cy="23774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2523744" y="27980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2834640" y="277977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rb run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2523744" y="3364992"/>
            <a:ext cx="237744" cy="237744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2523744" y="3364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2834640" y="334670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spry sp spc --watch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2487168" y="4169664"/>
            <a:ext cx="1938528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2523744" y="4206240"/>
            <a:ext cx="186537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for: SQL pipelines, dashboards, runbooks, BI as Code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4626864" y="969264"/>
            <a:ext cx="2084832" cy="3968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4626864" y="969264"/>
            <a:ext cx="2084832" cy="56692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4626864" y="1298448"/>
            <a:ext cx="2084832" cy="23774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56" name="Google Shape;756;p2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18304" y="1024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23"/>
          <p:cNvSpPr/>
          <p:nvPr/>
        </p:nvSpPr>
        <p:spPr>
          <a:xfrm>
            <a:off x="5120640" y="102412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3 — Fleetfolio / Qualityfolio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4736592" y="1664208"/>
            <a:ext cx="237744" cy="23774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4736592" y="166420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5047488" y="164592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Install surveilr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4736592" y="2231136"/>
            <a:ext cx="237744" cy="23774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4736592" y="22311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5047488" y="221284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shell qualityfolio/package.sql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4736592" y="2798064"/>
            <a:ext cx="237744" cy="23774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4736592" y="27980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5047488" y="277977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ingest files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4736592" y="3364992"/>
            <a:ext cx="237744" cy="23774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4736592" y="3364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5047488" y="334670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surveilr web-ui + open UI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4700016" y="4169664"/>
            <a:ext cx="1938528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4736592" y="4206240"/>
            <a:ext cx="186537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for: security teams, QA engineers, compliance officers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6839712" y="969264"/>
            <a:ext cx="2084832" cy="396849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6839712" y="969264"/>
            <a:ext cx="2084832" cy="566928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6839712" y="1298448"/>
            <a:ext cx="2084832" cy="237744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75" name="Google Shape;775;p23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931152" y="1024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3"/>
          <p:cNvSpPr/>
          <p:nvPr/>
        </p:nvSpPr>
        <p:spPr>
          <a:xfrm>
            <a:off x="7333488" y="102412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 panose="020F0502020204030204"/>
              <a:buNone/>
            </a:pPr>
            <a:r>
              <a:rPr lang="en-US"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4 — Full Opsfolio Suite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6949440" y="1664208"/>
            <a:ext cx="237744" cy="237744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6949440" y="166420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7260336" y="164592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Deploy surveilr + Spry pipelines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6949440" y="2231136"/>
            <a:ext cx="237744" cy="237744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6949440" y="22311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2" name="Google Shape;782;p23"/>
          <p:cNvSpPr/>
          <p:nvPr/>
        </p:nvSpPr>
        <p:spPr>
          <a:xfrm>
            <a:off x="7260336" y="2212848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Install Fleetfolio + Qualityfolio patterns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3" name="Google Shape;783;p23"/>
          <p:cNvSpPr/>
          <p:nvPr/>
        </p:nvSpPr>
        <p:spPr>
          <a:xfrm>
            <a:off x="6949440" y="2798064"/>
            <a:ext cx="237744" cy="237744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4" name="Google Shape;784;p23"/>
          <p:cNvSpPr/>
          <p:nvPr/>
        </p:nvSpPr>
        <p:spPr>
          <a:xfrm>
            <a:off x="6949440" y="27980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5" name="Google Shape;785;p23"/>
          <p:cNvSpPr/>
          <p:nvPr/>
        </p:nvSpPr>
        <p:spPr>
          <a:xfrm>
            <a:off x="7260336" y="2779776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Define controls as Spry SQL cells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6949440" y="3364992"/>
            <a:ext cx="237744" cy="237744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6949440" y="3364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 panose="020F0502020204030204"/>
              <a:buNone/>
            </a:pPr>
            <a:r>
              <a:rPr lang="en-US"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7260336" y="3346704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546E7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Query Operational Truth™ at any moment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6912864" y="4169664"/>
            <a:ext cx="1938528" cy="621792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0" name="Google Shape;790;p23"/>
          <p:cNvSpPr/>
          <p:nvPr/>
        </p:nvSpPr>
        <p:spPr>
          <a:xfrm>
            <a:off x="6949440" y="4206240"/>
            <a:ext cx="186537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D62"/>
              </a:buClr>
              <a:buSzPts val="700"/>
              <a:buFont typeface="Calibri" panose="020F0502020204030204"/>
              <a:buNone/>
            </a:pPr>
            <a:r>
              <a:rPr lang="en-US" sz="700">
                <a:solidFill>
                  <a:srgbClr val="006D6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for: GRC engineering, continuous audit posture, AI Workforce™</a:t>
            </a:r>
            <a:endParaRPr sz="7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 STARTED TODAY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0" name="Google Shape;800;p24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Independent tools. Composable platform. Evidence by default.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457200" y="1463040"/>
            <a:ext cx="73152" cy="658368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640080" y="15179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4" name="Google Shape;804;p24"/>
          <p:cNvSpPr/>
          <p:nvPr/>
        </p:nvSpPr>
        <p:spPr>
          <a:xfrm>
            <a:off x="640080" y="17922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surveilr.com  ·  docs.opsfolio.com/surveilr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4023360" y="1572768"/>
            <a:ext cx="45720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4160520" y="1572768"/>
            <a:ext cx="4389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tap surveilr/tap &amp;&amp; brew install surveilr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8" name="Google Shape;808;p24"/>
          <p:cNvSpPr/>
          <p:nvPr/>
        </p:nvSpPr>
        <p:spPr>
          <a:xfrm>
            <a:off x="457200" y="2212848"/>
            <a:ext cx="73152" cy="65836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640080" y="22677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640080" y="25420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sprymd.org  ·  docs.opsfolio.com/spry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4023360" y="2322576"/>
            <a:ext cx="4572000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4160520" y="2322576"/>
            <a:ext cx="4389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C8A4"/>
              </a:buClr>
              <a:buSzPts val="800"/>
              <a:buFont typeface="Courier New" panose="02070309020205020404"/>
              <a:buNone/>
            </a:pPr>
            <a:r>
              <a:rPr lang="en-US" sz="800">
                <a:solidFill>
                  <a:srgbClr val="7EC8A4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brew install programmablemd/packages/spry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457200" y="2962656"/>
            <a:ext cx="73152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640080" y="3017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640080" y="3291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A99D"/>
              </a:buClr>
              <a:buSzPts val="850"/>
              <a:buFont typeface="Calibri" panose="020F0502020204030204"/>
            </a:pPr>
            <a:r>
              <a:rPr lang="en-US" sz="850" err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fleetfolio.dev</a:t>
            </a: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r>
              <a:rPr lang="en-US" sz="9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· docs.opsfolio.com/spry/</a:t>
            </a:r>
            <a:r>
              <a:rPr lang="en-US" sz="900" err="1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fleetfolio</a:t>
            </a:r>
            <a:r>
              <a:rPr lang="en-US" sz="90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/introduction</a:t>
            </a:r>
            <a:endParaRPr lang="en-US" sz="850">
              <a:solidFill>
                <a:srgbClr val="00A99D"/>
              </a:solidFill>
              <a:ea typeface="Calibri" panose="020F0502020204030204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4023361" y="2870269"/>
            <a:ext cx="4530183" cy="6854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4160520" y="3016628"/>
            <a:ext cx="4389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sudo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docker pull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fleetfolio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/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fleetfolio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&amp;&amp;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sudo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 docker run --rm -it --env-file .env -v $(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pwd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)/.env:/opt/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eaa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/.env -v $(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pwd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)/results:/opt/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eaa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/sessions/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fleetfolio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/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ourier New" panose="02070309020205020404"/>
                <a:cs typeface="Courier New" panose="02070309020205020404" pitchFamily="34" charset="0"/>
                <a:sym typeface="Courier New" panose="02070309020205020404"/>
              </a:rPr>
              <a:t>fleetfolio</a:t>
            </a:r>
            <a:endParaRPr lang="en-US" sz="800">
              <a:solidFill>
                <a:srgbClr val="7EC8A4"/>
              </a:solidFill>
              <a:latin typeface="Courier New" panose="02070309020205020404" pitchFamily="34" charset="0"/>
              <a:cs typeface="Courier New" panose="02070309020205020404" pitchFamily="34" charset="0"/>
            </a:endParaRPr>
          </a:p>
          <a:p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sudo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 docker pull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fleetfolio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/threat-exposure &amp;&amp;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sudo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 docker run --rm -it -p 9228:9228 -v "$PWD:/data"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fleetfolio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cs typeface="Courier New" panose="02070309020205020404" pitchFamily="34" charset="0"/>
              </a:rPr>
              <a:t>/threat-exposure</a:t>
            </a:r>
            <a:endParaRPr lang="en-US" sz="800">
              <a:latin typeface="Courier New" panose="02070309020205020404" pitchFamily="34" charset="0"/>
              <a:cs typeface="Courier New" panose="02070309020205020404" pitchFamily="34" charset="0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0D203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457200" y="3712464"/>
            <a:ext cx="73152" cy="65836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640080" y="37673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640080" y="40416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99D"/>
              </a:buClr>
              <a:buSzPts val="850"/>
              <a:buFont typeface="Calibri" panose="020F0502020204030204"/>
              <a:buNone/>
            </a:pPr>
            <a:r>
              <a:rPr lang="en-US" sz="850">
                <a:solidFill>
                  <a:srgbClr val="00A99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qualityfolio.dev  ·  next.qualityfolio.dev</a:t>
            </a:r>
            <a:endParaRPr sz="8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4048760" y="3693795"/>
            <a:ext cx="4520565" cy="817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GB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4064000" y="3623310"/>
            <a:ext cx="415163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spry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rb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run qualityfolio.md</a:t>
            </a:r>
            <a:endParaRPr lang="en-US" sz="800">
              <a:solidFill>
                <a:srgbClr val="7EC8A4"/>
              </a:solidFill>
              <a:latin typeface="Courier New" panose="02070309020205020404" pitchFamily="34" charset="0"/>
              <a:ea typeface="Calibri" panose="020F0502020204030204"/>
              <a:cs typeface="Courier New" panose="020703090202050204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spry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sp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spc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--fs dev-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src.auto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--destroy-first --conf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sqlpage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/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sqlpage.json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--md qualityfolio.md</a:t>
            </a:r>
            <a:endParaRPr lang="en-US" sz="800">
              <a:latin typeface="Courier New" panose="02070309020205020404" pitchFamily="34" charset="0"/>
              <a:cs typeface="Courier New" panose="020703090202050204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EOH_INSTANCE=1 PORT=9227 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surveilr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web-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ui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-d ./resource-</a:t>
            </a:r>
            <a:r>
              <a:rPr lang="en-US" sz="800" err="1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surveillance.sqlite.db</a:t>
            </a:r>
            <a:r>
              <a:rPr lang="en-US" sz="800">
                <a:solidFill>
                  <a:srgbClr val="7EC8A4"/>
                </a:solidFill>
                <a:latin typeface="Courier New" panose="02070309020205020404" pitchFamily="34" charset="0"/>
                <a:ea typeface="Calibri" panose="020F0502020204030204"/>
                <a:cs typeface="Courier New" panose="02070309020205020404" pitchFamily="34" charset="0"/>
              </a:rPr>
              <a:t> --port 9227 --host 0.0.0.0</a:t>
            </a:r>
            <a:endParaRPr lang="en-US" sz="800">
              <a:latin typeface="Courier New" panose="02070309020205020404" pitchFamily="34" charset="0"/>
              <a:cs typeface="Courier New" panose="02070309020205020404" pitchFamily="34" charset="0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solidFill>
            <a:srgbClr val="006D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 panose="020F0502020204030204"/>
              <a:buNone/>
            </a:pPr>
            <a:r>
              <a:rPr lang="en-US" sz="9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Opsfolio Suite  ·  opsfolio.com  ·  Compliance-as-a-Service — software + operating discipline delivered together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22809</Words>
  <Application>WPS Presentation</Application>
  <PresentationFormat>On-screen Show (16:9)</PresentationFormat>
  <Paragraphs>1044</Paragraphs>
  <Slides>26</Slides>
  <Notes>26</Notes>
  <HiddenSlides>4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Arial</vt:lpstr>
      <vt:lpstr>Calibri</vt:lpstr>
      <vt:lpstr>Courier New</vt:lpstr>
      <vt:lpstr>Microsoft YaHei</vt:lpstr>
      <vt:lpstr>Arial Unicode MS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WPS_1704355526</cp:lastModifiedBy>
  <cp:revision>10</cp:revision>
  <dcterms:created xsi:type="dcterms:W3CDTF">2026-05-07T10:14:39Z</dcterms:created>
  <dcterms:modified xsi:type="dcterms:W3CDTF">2026-05-07T10:22:26Z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CCE575D7E5744E6DB4E22118CCEBAE3B_13</vt:lpwstr>
  </property>
  <property fmtid="{D5CDD505-2E9C-101B-9397-08002B2CF9AE}" pid="3" name="KSOProductBuildVer">
    <vt:lpwstr>1033-12.1.0.25242</vt:lpwstr>
  </property>
</Properties>
</file>