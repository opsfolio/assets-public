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2BF5CB-15F4-8F53-965C-772C65B545A7}" v="42" dt="2026-05-06T08:25:59.605"/>
    <p1510:client id="{D81BABE2-7AD6-3FF8-CDD3-2636F8FDDFC5}" v="9" dt="2026-05-06T08:42:00.2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7182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82496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340864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999232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0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315968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74336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32704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91072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49440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07808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66176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924544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582912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241280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899648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558016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24128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682496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340864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99232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0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315968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974336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632704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291072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949440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607808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266176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924544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582912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241280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0899648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1558016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65760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024128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682496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340864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999232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657600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315968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974336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632704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291072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949440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607808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8266176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8924544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9582912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0241280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0899648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1558016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365760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024128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682496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340864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2999232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3657600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315968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974336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5632704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6291072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949440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7607808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8266176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8924544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9582912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0241280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0899648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1558016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365760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024128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682496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2340864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999232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3657600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4315968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4974336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5632704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6291072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6949440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7607808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8266176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8924544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9582912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10241280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10899648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11558016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365760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1024128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1682496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2340864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2999232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3657600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4315968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4974336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5632704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6291072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6949440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7607808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8266176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8924544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9582912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10241280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10899648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11558016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365760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1024128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1682496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2340864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2999232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3657600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4315968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4974336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5632704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6291072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6949440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7607808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8266176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8924544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9582912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10241280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10899648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11558016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365760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1024128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1682496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2340864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2999232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3657600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4315968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4974336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5632704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6291072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6949440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7607808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8266176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8924544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9582912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10241280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10899648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11558016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365760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1024128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1682496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2340864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2999232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3657600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4315968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4974336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5632704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6291072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6949440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7607808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8266176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8924544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9582912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10241280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10899648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11558016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365760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1024128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1682496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2340864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2999232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3657600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4315968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4974336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5632704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6291072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6949440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7607808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8266176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8924544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9582912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10241280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10899648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11558016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548640" y="1325880"/>
            <a:ext cx="178308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Text 182"/>
          <p:cNvSpPr/>
          <p:nvPr/>
        </p:nvSpPr>
        <p:spPr>
          <a:xfrm>
            <a:off x="548640" y="1325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TOUR</a:t>
            </a:r>
            <a:endParaRPr lang="en-US" sz="1000" dirty="0"/>
          </a:p>
        </p:txBody>
      </p:sp>
      <p:sp>
        <p:nvSpPr>
          <p:cNvPr id="185" name="Text 183"/>
          <p:cNvSpPr/>
          <p:nvPr/>
        </p:nvSpPr>
        <p:spPr>
          <a:xfrm>
            <a:off x="502920" y="1719072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Qualityfolio</a:t>
            </a:r>
            <a:endParaRPr lang="en-US" sz="7200" dirty="0"/>
          </a:p>
        </p:txBody>
      </p:sp>
      <p:sp>
        <p:nvSpPr>
          <p:cNvPr id="186" name="Text 184"/>
          <p:cNvSpPr/>
          <p:nvPr/>
        </p:nvSpPr>
        <p:spPr>
          <a:xfrm>
            <a:off x="502920" y="294436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You Can Prove.</a:t>
            </a:r>
            <a:endParaRPr lang="en-US" sz="2200" dirty="0"/>
          </a:p>
        </p:txBody>
      </p:sp>
      <p:sp>
        <p:nvSpPr>
          <p:cNvPr id="187" name="Shape 185"/>
          <p:cNvSpPr/>
          <p:nvPr/>
        </p:nvSpPr>
        <p:spPr>
          <a:xfrm>
            <a:off x="502920" y="3566160"/>
            <a:ext cx="7498080" cy="0"/>
          </a:xfrm>
          <a:prstGeom prst="line">
            <a:avLst/>
          </a:prstGeom>
          <a:noFill/>
          <a:ln w="1270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Text 186"/>
          <p:cNvSpPr/>
          <p:nvPr/>
        </p:nvSpPr>
        <p:spPr>
          <a:xfrm>
            <a:off x="502920" y="3730752"/>
            <a:ext cx="7498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Management as Code (TMaC) — test artifacts authored in Markdown, versioned in Git, executed via CLI or CI, and stored as immutable, queryable SQL evidence in surveilr.</a:t>
            </a:r>
            <a:endParaRPr lang="en-US" sz="1300" dirty="0"/>
          </a:p>
        </p:txBody>
      </p:sp>
      <p:sp>
        <p:nvSpPr>
          <p:cNvPr id="189" name="Text 187"/>
          <p:cNvSpPr/>
          <p:nvPr/>
        </p:nvSpPr>
        <p:spPr>
          <a:xfrm>
            <a:off x="8348472" y="64465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Netspective Communications LLC</a:t>
            </a:r>
            <a:endParaRPr lang="en-US" sz="1000" dirty="0"/>
          </a:p>
        </p:txBody>
      </p:sp>
      <p:sp>
        <p:nvSpPr>
          <p:cNvPr id="190" name="Text 188"/>
          <p:cNvSpPr/>
          <p:nvPr/>
        </p:nvSpPr>
        <p:spPr>
          <a:xfrm>
            <a:off x="0" y="6446520"/>
            <a:ext cx="1218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qualityfolio.dev  ·  Confidential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04672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1274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Tour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qualityfolio.dev ·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987552"/>
            <a:ext cx="369722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987552"/>
            <a:ext cx="3697224" cy="914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2648" y="1188720"/>
            <a:ext cx="3294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12648" y="1719072"/>
            <a:ext cx="3294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Debt Is Audit Debt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2648" y="2194560"/>
            <a:ext cx="3294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QA fails compliance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45864" y="987552"/>
            <a:ext cx="369722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45864" y="987552"/>
            <a:ext cx="3697224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47032" y="1188720"/>
            <a:ext cx="3294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447032" y="1719072"/>
            <a:ext cx="3294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TMaC Architecture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47032" y="2194560"/>
            <a:ext cx="3294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+ Git + SQL = provable quality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80248" y="987552"/>
            <a:ext cx="369722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80248" y="987552"/>
            <a:ext cx="3697224" cy="91440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81416" y="1188720"/>
            <a:ext cx="3294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281416" y="1719072"/>
            <a:ext cx="3294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Ecosystem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81416" y="2194560"/>
            <a:ext cx="3294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Qualityfolio + Opsfolio Suite + Fleetfolio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" y="3529584"/>
            <a:ext cx="369722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" y="3529584"/>
            <a:ext cx="3697224" cy="9144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2648" y="3730752"/>
            <a:ext cx="3294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12648" y="4261104"/>
            <a:ext cx="3294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Tour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2648" y="4736592"/>
            <a:ext cx="3294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Strategy, cycles, evidence, traceability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245864" y="3529584"/>
            <a:ext cx="369722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245864" y="3529584"/>
            <a:ext cx="3697224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447032" y="3730752"/>
            <a:ext cx="3294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447032" y="4261104"/>
            <a:ext cx="3294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Evidence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447032" y="4736592"/>
            <a:ext cx="3294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 is a query. Every result is evidence.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080248" y="3529584"/>
            <a:ext cx="3697224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080248" y="3529584"/>
            <a:ext cx="3697224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281416" y="3730752"/>
            <a:ext cx="3294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8281416" y="4261104"/>
            <a:ext cx="3294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Close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81416" y="4736592"/>
            <a:ext cx="3294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Integrations, deployment, and next steps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Debt Is Audit Debt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3533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that pass functional tests still fail audits — because they cannot prove what happened.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83664"/>
            <a:ext cx="5767669" cy="4297680"/>
          </a:xfrm>
          <a:prstGeom prst="rect">
            <a:avLst/>
          </a:prstGeom>
          <a:solidFill>
            <a:srgbClr val="0D1E38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883664"/>
            <a:ext cx="5767669" cy="914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048256"/>
            <a:ext cx="54933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QA Evidence Fails Audits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2505456"/>
            <a:ext cx="54864" cy="6400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542032"/>
            <a:ext cx="53653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in Spreadsheets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779776"/>
            <a:ext cx="536533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and TestRail data is non-versioned, manually edited, and changes without trace. No Git history.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54864" cy="6400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419856"/>
            <a:ext cx="53653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Assembled After the Fact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657600"/>
            <a:ext cx="536533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Auditors arrive and teams scramble to screenshot and export. Evidence is assembled, not generated.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" y="4261104"/>
            <a:ext cx="54864" cy="6400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4297680"/>
            <a:ext cx="53653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Requirement Traceability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535424"/>
            <a:ext cx="536533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prove which test covers which control. Frameworks demand traceability; TMS tools rarely deliver it.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5138928"/>
            <a:ext cx="54864" cy="6400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5175504"/>
            <a:ext cx="53653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Tests Silently Pass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5413248"/>
            <a:ext cx="536533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that passes 80% of the time looks compliant at audit time but is a governance risk every day.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7749" y="1883664"/>
            <a:ext cx="5324003" cy="4297680"/>
          </a:xfrm>
          <a:prstGeom prst="rect">
            <a:avLst/>
          </a:prstGeom>
          <a:solidFill>
            <a:srgbClr val="0D1E38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07749" y="1883664"/>
            <a:ext cx="5324003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90629" y="2048256"/>
            <a:ext cx="50496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90629" y="2542032"/>
            <a:ext cx="50496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Test-ready.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590629" y="3127248"/>
            <a:ext cx="50496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Audit-blind.</a:t>
            </a:r>
            <a:endParaRPr lang="en-US" sz="3600" dirty="0"/>
          </a:p>
        </p:txBody>
      </p:sp>
      <p:sp>
        <p:nvSpPr>
          <p:cNvPr id="26" name="Shape 24"/>
          <p:cNvSpPr/>
          <p:nvPr/>
        </p:nvSpPr>
        <p:spPr>
          <a:xfrm>
            <a:off x="6590629" y="3803904"/>
            <a:ext cx="4958243" cy="0"/>
          </a:xfrm>
          <a:prstGeom prst="line">
            <a:avLst/>
          </a:prstGeom>
          <a:noFill/>
          <a:ln w="12700">
            <a:solidFill>
              <a:srgbClr val="2A3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90629" y="3968496"/>
            <a:ext cx="5049683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 in CI. Evidence vanishes. Auditors arrive to find screenshots taken yesterday, requirements traced manually to spreadsheets, and no provable record of what the system actually did.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qualityfolio.dev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164592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1274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TMaC: Test Management as Code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TMS: evidence is collected after the fact.  Qualityfolio: evidence is the byproduct of execution.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5591556" cy="446227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5591556" cy="914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53172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TMS (TestRail, Xray, qTest)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267712"/>
            <a:ext cx="531723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stored in proprietary DB — no Git, no version history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uploaded manually by QA engineers after test runs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links maintained by hand — break silently on change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reporting requires dedicated export/assembly cycles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cannot read or generate test cases in proprietary formats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— evidence inaccessible when contract ends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or air-gapped deployment usually unsupported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40196" y="1664208"/>
            <a:ext cx="5682996" cy="4462272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140196" y="1664208"/>
            <a:ext cx="5682996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23076" y="1828800"/>
            <a:ext cx="54086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Qualityfolio (TMaC)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23076" y="2267712"/>
            <a:ext cx="540867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+ YAML authoring — plain text, Git-versioned with full PR review workflow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the execution byproduct — captured automatically on every run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FII (Foreign Integration Identifiers) link cases to controls at authoring time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against surveilr generates compliance package in minutes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read, generate, and review Markdown test cases natively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standards — Markdown + SQLite; evidence survives any vendor change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offline / air-gapped support for FDA-regulated lab environments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qualityfolio.dev/why  ·  Full comparison: TestRail, Xray, Zephyr, qTest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3716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Qualityfolio in the Opsfolio Ecosystem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evidence flows directly into Opsfolio Suite’s Evidence Warehouse, where it auto-maps to compliance controls.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4389120" cy="420624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438912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84708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Qualityfolio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Management as Code (TMaC)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2670048"/>
            <a:ext cx="40599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Strategies, suites, plans, cycles authored in Markdown + Git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+ manual execution with full provenance capture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stored as immutable SQL in surveilr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FII links test cases to SOC 2, HIPAA, FDA 21 CFR, ISO controls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test case generation from requirements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/ air-gapped support for validated lab environments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3767328"/>
            <a:ext cx="3200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166360" y="1664208"/>
            <a:ext cx="41148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166360" y="1664208"/>
            <a:ext cx="4114800" cy="109728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49240" y="184708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 Suite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49240" y="2286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Engineering Platform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349240" y="2688336"/>
            <a:ext cx="374904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D0E0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58968" y="27249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Warehouse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58968" y="29535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 records auto-mapped to compliance controls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49240" y="3310128"/>
            <a:ext cx="374904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D0E0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58968" y="334670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Intelligence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58968" y="35753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trends and coverage gaps surface as compliance signals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49240" y="3931920"/>
            <a:ext cx="374904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D0E0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58968" y="39684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Center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58968" y="41970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Qualityfolio evidence populates SOC 2, HIPAA, FDA audit packages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49240" y="4553712"/>
            <a:ext cx="374904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D0E0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58968" y="459028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Library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58968" y="48188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validate executable control predicates in real time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49240" y="5175504"/>
            <a:ext cx="374904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D0E0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58968" y="52120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Threat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58968" y="54406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tests and test failures surface as operational risk signals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509760" y="1664208"/>
            <a:ext cx="2084832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509760" y="1664208"/>
            <a:ext cx="2084832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646920" y="184708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Fleetfolio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9646920" y="22860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SQL-Native EDR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646920" y="2706624"/>
            <a:ext cx="1865376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posture feeds Qualityfolio asset context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TEM findings trigger security test cycles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surveilr DB — one SQL schema for both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evidence + test evidence in one audit package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646920" y="5504688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fleetfolio.dev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qualityfolio.dev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Truth™ in Testing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 only provable when declared intent (Expected Tests) and runtime reality (Observed Results) are continuously aligned.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00784"/>
            <a:ext cx="3727704" cy="3767328"/>
          </a:xfrm>
          <a:prstGeom prst="rect">
            <a:avLst/>
          </a:prstGeom>
          <a:solidFill>
            <a:srgbClr val="0D1E38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700784"/>
            <a:ext cx="3727704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30352" y="1883664"/>
            <a:ext cx="3398520" cy="256032"/>
          </a:xfrm>
          <a:prstGeom prst="rect">
            <a:avLst/>
          </a:prstGeom>
          <a:solidFill>
            <a:srgbClr val="16A34A">
              <a:alpha val="18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" y="1883664"/>
            <a:ext cx="339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2267712"/>
            <a:ext cx="339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+ Evidence Align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30352" y="2779776"/>
            <a:ext cx="339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Truth™ achieved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3145536"/>
            <a:ext cx="3398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executed with captured results. Cryptographic provenance. Auditor-defensible. The control is proven, not claimed.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39184" y="1700784"/>
            <a:ext cx="3727704" cy="3767328"/>
          </a:xfrm>
          <a:prstGeom prst="rect">
            <a:avLst/>
          </a:prstGeom>
          <a:solidFill>
            <a:srgbClr val="0D1E38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39184" y="1700784"/>
            <a:ext cx="3727704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03776" y="1883664"/>
            <a:ext cx="3398520" cy="2560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03776" y="1883664"/>
            <a:ext cx="339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SIGNAL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03776" y="2267712"/>
            <a:ext cx="339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Lack Evidence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303776" y="2779776"/>
            <a:ext cx="339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is incomplete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03776" y="3145536"/>
            <a:ext cx="3398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exist but no execution evidence was captured. Intent without proof. Surfaces as an OT™ gap signal — never silently assumed compliant.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12608" y="1700784"/>
            <a:ext cx="3727704" cy="3767328"/>
          </a:xfrm>
          <a:prstGeom prst="rect">
            <a:avLst/>
          </a:prstGeom>
          <a:solidFill>
            <a:srgbClr val="0D1E38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912608" y="1700784"/>
            <a:ext cx="3727704" cy="914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077200" y="1883664"/>
            <a:ext cx="3398520" cy="256032"/>
          </a:xfrm>
          <a:prstGeom prst="rect">
            <a:avLst/>
          </a:prstGeom>
          <a:solidFill>
            <a:srgbClr val="E53E3E">
              <a:alpha val="18000"/>
            </a:srgbClr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077200" y="1883664"/>
            <a:ext cx="339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FAIL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77200" y="2267712"/>
            <a:ext cx="339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Without Tests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077200" y="2779776"/>
            <a:ext cx="339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broken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77200" y="3145536"/>
            <a:ext cx="3398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records exist with no corresponding test case. Untrusted evidence. A compliance liability — cannot be traced to approved intent.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6108192"/>
            <a:ext cx="11503152" cy="475488"/>
          </a:xfrm>
          <a:prstGeom prst="rect">
            <a:avLst/>
          </a:prstGeom>
          <a:solidFill>
            <a:srgbClr val="0D1E38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4360" y="6144768"/>
            <a:ext cx="110916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Opsfolio Suite: GAP and GOVERNANCE FAIL states surface as Operational Truth™ gap signals — uninstrumented controls are never silently assumed compliant.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513832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qualityfolio.dev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74320"/>
            <a:ext cx="141732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Strategy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Suite Management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70078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must be tested — in Git, not spreadsheets.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authored in Markdown with YAML metadata — version-controlled, PR-reviewed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hierarchy: Strategy → Suite → Plan → Cycle → Case → Evidence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attached at plan level via FII — one requirement governs many cases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fields (Active / Deprecated / Draft) tracked in YAML, queryable in SQL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Multi-team support: separate projects share strategy artifacts via Git references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" y="5779008"/>
            <a:ext cx="1176528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8016" y="5833872"/>
            <a:ext cx="1103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" y="6236208"/>
            <a:ext cx="1103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41120" y="5779008"/>
            <a:ext cx="1176528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7696" y="5833872"/>
            <a:ext cx="1103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7696" y="6236208"/>
            <a:ext cx="1103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90800" y="5779008"/>
            <a:ext cx="1176528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27376" y="5833872"/>
            <a:ext cx="1103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27376" y="6236208"/>
            <a:ext cx="1103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Queryable Hierarchy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06240" y="228600"/>
            <a:ext cx="7708392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56532" y="333756"/>
            <a:ext cx="82296" cy="8229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66260" y="333756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475988" y="333756"/>
            <a:ext cx="82296" cy="8229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08576" y="274320"/>
            <a:ext cx="7214616" cy="201168"/>
          </a:xfrm>
          <a:prstGeom prst="rect">
            <a:avLst/>
          </a:prstGeom>
          <a:solidFill>
            <a:srgbClr val="2D3D50"/>
          </a:solidFill>
          <a:ln w="12700">
            <a:solidFill>
              <a:srgbClr val="3A4D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81728" y="283464"/>
            <a:ext cx="7104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A8B8CC"/>
                </a:solidFill>
                <a:ea typeface="+mn-lt"/>
                <a:cs typeface="+mn-lt"/>
              </a:rPr>
              <a:t>https://demo.qualityfolio.dev/</a:t>
            </a:r>
            <a:r>
              <a:rPr lang="en-US" sz="850">
                <a:solidFill>
                  <a:srgbClr val="A8B8CC"/>
                </a:solidFill>
                <a:latin typeface="Courier New"/>
                <a:ea typeface="Courier New" pitchFamily="34" charset="-122"/>
                <a:cs typeface="Courier New"/>
              </a:rPr>
              <a:t>suites</a:t>
            </a:r>
            <a:endParaRPr lang="en-US" sz="850">
              <a:latin typeface="Courier New"/>
              <a:ea typeface="Calibri"/>
              <a:cs typeface="Courier New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513832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qualityfolio.dev · Confidential</a:t>
            </a:r>
            <a:endParaRPr lang="en-US" sz="8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FD25E70-B8D5-281B-E096-440F809EA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205" y="611225"/>
            <a:ext cx="7717358" cy="57331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74320"/>
            <a:ext cx="141732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Cycle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70078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is a timestamped, immutable evidence record.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are timeboxed execution batches — each cycle produces a distinct evidence set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automated (CLI), and CI/CD execution paths — same evidence schema for all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case result stored as JSON with start/end timestamps and step-level details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approval workflow: created_by + approved_by captured in YAML at execution time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history preserved — every cycle’s results are independently queryable in SQL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" y="5779008"/>
            <a:ext cx="1176528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8016" y="5833872"/>
            <a:ext cx="1103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" y="6236208"/>
            <a:ext cx="1103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IDs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41120" y="5779008"/>
            <a:ext cx="1176528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7696" y="5833872"/>
            <a:ext cx="1103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7696" y="6236208"/>
            <a:ext cx="1103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Native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90800" y="5779008"/>
            <a:ext cx="1176528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27376" y="5833872"/>
            <a:ext cx="1103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27376" y="6236208"/>
            <a:ext cx="1103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State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06240" y="228600"/>
            <a:ext cx="7708392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56532" y="333756"/>
            <a:ext cx="82296" cy="8229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66260" y="333756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475988" y="333756"/>
            <a:ext cx="82296" cy="8229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08576" y="274320"/>
            <a:ext cx="7214616" cy="201168"/>
          </a:xfrm>
          <a:prstGeom prst="rect">
            <a:avLst/>
          </a:prstGeom>
          <a:solidFill>
            <a:srgbClr val="2D3D50"/>
          </a:solidFill>
          <a:ln w="12700">
            <a:solidFill>
              <a:srgbClr val="3A4D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81728" y="283464"/>
            <a:ext cx="7104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>
                <a:solidFill>
                  <a:srgbClr val="A8B8CC"/>
                </a:solidFill>
                <a:ea typeface="+mn-lt"/>
                <a:cs typeface="+mn-lt"/>
              </a:rPr>
              <a:t>https://demo.qualityfolio.dev/</a:t>
            </a:r>
            <a:r>
              <a:rPr lang="en-US" sz="850">
                <a:solidFill>
                  <a:srgbClr val="A8B8CC"/>
                </a:solidFill>
                <a:latin typeface="Courier New"/>
                <a:ea typeface="Courier New" pitchFamily="34" charset="-122"/>
                <a:cs typeface="Courier New"/>
              </a:rPr>
              <a:t>cyclehistory</a:t>
            </a:r>
            <a:endParaRPr lang="en-US" sz="850">
              <a:latin typeface="Courier New"/>
              <a:ea typeface="Calibri"/>
              <a:cs typeface="Courier New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950708" y="3204972"/>
            <a:ext cx="219456" cy="219456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513832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qualityfolio.dev · Confidential</a:t>
            </a:r>
            <a:endParaRPr lang="en-US" sz="8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F8A7860-F9EE-BCF6-B306-56B976C4A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205" y="614140"/>
            <a:ext cx="7690462" cy="57131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74320"/>
            <a:ext cx="141732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70078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Markdown. Git PR workflow. AI-assisted generation.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authored as TC-XXXX.case.md with YAML: priority, type, scenario_type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sections: Description, Pre-Conditions, Test Steps, Expected Result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metadata inline: requirement_ids, regulatory_context, risk_level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validation protocols from requirements: “Generate FDA cases from this URS”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reusable across cycles — reference by case ID; no duplication or drift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" y="5779008"/>
            <a:ext cx="1176528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8016" y="5833872"/>
            <a:ext cx="1103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" y="6236208"/>
            <a:ext cx="1103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Format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41120" y="5779008"/>
            <a:ext cx="1176528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7696" y="5833872"/>
            <a:ext cx="1103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7696" y="6236208"/>
            <a:ext cx="1103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Generation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90800" y="5779008"/>
            <a:ext cx="1176528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27376" y="5833872"/>
            <a:ext cx="1103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FII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27376" y="6236208"/>
            <a:ext cx="1103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Links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06240" y="228600"/>
            <a:ext cx="7708392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56532" y="333756"/>
            <a:ext cx="82296" cy="8229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66260" y="333756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475988" y="333756"/>
            <a:ext cx="82296" cy="8229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08576" y="274320"/>
            <a:ext cx="7214616" cy="201168"/>
          </a:xfrm>
          <a:prstGeom prst="rect">
            <a:avLst/>
          </a:prstGeom>
          <a:solidFill>
            <a:srgbClr val="2D3D50"/>
          </a:solidFill>
          <a:ln w="12700">
            <a:solidFill>
              <a:srgbClr val="3A4D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81728" y="283464"/>
            <a:ext cx="7104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A8B8CC"/>
                </a:solidFill>
                <a:ea typeface="+mn-lt"/>
                <a:cs typeface="+mn-lt"/>
              </a:rPr>
              <a:t>https://demo.qualityfolio.dev/</a:t>
            </a:r>
            <a:r>
              <a:rPr lang="en-US" sz="850" dirty="0">
                <a:solidFill>
                  <a:srgbClr val="A8B8CC"/>
                </a:solidFill>
                <a:latin typeface="Courier New"/>
                <a:ea typeface="Courier New" pitchFamily="34" charset="-122"/>
                <a:cs typeface="Courier New"/>
              </a:rPr>
              <a:t>cases</a:t>
            </a:r>
            <a:endParaRPr lang="en-US" sz="850" dirty="0">
              <a:latin typeface="Courier New"/>
              <a:cs typeface="Courier New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513832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qualityfolio.dev · Confidential</a:t>
            </a:r>
            <a:endParaRPr lang="en-US" sz="8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4C0A87-D63E-7C6C-52EA-BA6AC4811F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04927" y="607569"/>
            <a:ext cx="7700739" cy="57208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74320"/>
            <a:ext cx="141732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Capture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Dashboard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70078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pass/fail/bug metrics. No manual evidence assembly.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auto-ingest via surveilr on every CI/CD run or manual execution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total cases executed, pass/fail rates, active bugs, execution trends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hash: SHA-256 + Git commit SHA + executor identity = cryptographic provenance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evidence declared at point of failure — BUG-XXXX.md linked to the failing run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auto-updates on ingest — auditors see live coverage state, not last export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" y="5779008"/>
            <a:ext cx="1176528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8016" y="5833872"/>
            <a:ext cx="1103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" y="6236208"/>
            <a:ext cx="1103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41120" y="5779008"/>
            <a:ext cx="1176528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7696" y="5833872"/>
            <a:ext cx="1103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7696" y="6236208"/>
            <a:ext cx="1103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Hash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90800" y="5779008"/>
            <a:ext cx="1176528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27376" y="5833872"/>
            <a:ext cx="1103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27376" y="6236208"/>
            <a:ext cx="1103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Steps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06240" y="228600"/>
            <a:ext cx="7708392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56532" y="333756"/>
            <a:ext cx="82296" cy="8229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66260" y="333756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475988" y="333756"/>
            <a:ext cx="82296" cy="8229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08576" y="274320"/>
            <a:ext cx="7214616" cy="201168"/>
          </a:xfrm>
          <a:prstGeom prst="rect">
            <a:avLst/>
          </a:prstGeom>
          <a:solidFill>
            <a:srgbClr val="2D3D50"/>
          </a:solidFill>
          <a:ln w="12700">
            <a:solidFill>
              <a:srgbClr val="3A4D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81728" y="283464"/>
            <a:ext cx="7104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A8B8CC"/>
                </a:solidFill>
                <a:ea typeface="+mn-lt"/>
                <a:cs typeface="+mn-lt"/>
              </a:rPr>
              <a:t>https://demo.qualityfolio.dev/</a:t>
            </a:r>
            <a:r>
              <a:rPr lang="en-US" sz="850">
                <a:solidFill>
                  <a:srgbClr val="A8B8CC"/>
                </a:solidFill>
                <a:latin typeface="Courier New"/>
                <a:ea typeface="Courier New" pitchFamily="34" charset="-122"/>
                <a:cs typeface="Courier New"/>
              </a:rPr>
              <a:t>evidence</a:t>
            </a:r>
            <a:endParaRPr lang="en-US" sz="850">
              <a:ea typeface="Calibri"/>
              <a:cs typeface="Calibri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513832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qualityfolio.dev · Confidential</a:t>
            </a:r>
            <a:endParaRPr lang="en-US" sz="8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4D6CB2D-84C1-E1E3-268B-61D0E2CBDB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83683" y="654422"/>
            <a:ext cx="7308921" cy="54297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74320"/>
            <a:ext cx="141732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70078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 mapped to a control. Every control provably covered.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FII (Foreign Integration Identifiers) link cases to framework controls at authoring time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case satisfies multiple frameworks: SOC 2 + HIPAA + ISO in one record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matrix queryable via SQL: which controls have passing evidence right now?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detection: controls with no executed test cases surface as coverage gaps in real time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flows to Opsfolio Suite — evidence auto-tagged at ingest; no re-mapping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" y="5779008"/>
            <a:ext cx="1176528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8016" y="5833872"/>
            <a:ext cx="1103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" y="6236208"/>
            <a:ext cx="1103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Case:Control Map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41120" y="5779008"/>
            <a:ext cx="1176528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7696" y="5833872"/>
            <a:ext cx="1103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7696" y="6236208"/>
            <a:ext cx="1103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Query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90800" y="5779008"/>
            <a:ext cx="1176528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27376" y="5833872"/>
            <a:ext cx="1103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27376" y="6236208"/>
            <a:ext cx="1103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Detection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06240" y="228600"/>
            <a:ext cx="7708392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56532" y="333756"/>
            <a:ext cx="82296" cy="8229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66260" y="333756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475988" y="333756"/>
            <a:ext cx="82296" cy="8229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08576" y="274320"/>
            <a:ext cx="7214616" cy="201168"/>
          </a:xfrm>
          <a:prstGeom prst="rect">
            <a:avLst/>
          </a:prstGeom>
          <a:solidFill>
            <a:srgbClr val="2D3D50"/>
          </a:solidFill>
          <a:ln w="12700">
            <a:solidFill>
              <a:srgbClr val="3A4D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81728" y="283464"/>
            <a:ext cx="7104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8CC"/>
                </a:solidFill>
                <a:ea typeface="+mn-lt"/>
                <a:cs typeface="+mn-lt"/>
              </a:rPr>
              <a:t>https://demo.qualityfolio.dev</a:t>
            </a:r>
            <a:r>
              <a:rPr lang="en-US" sz="850">
                <a:solidFill>
                  <a:srgbClr val="A8B8CC"/>
                </a:solidFill>
                <a:ea typeface="+mn-lt"/>
                <a:cs typeface="+mn-lt"/>
              </a:rPr>
              <a:t>/</a:t>
            </a:r>
            <a:r>
              <a:rPr lang="en-US" sz="850" dirty="0">
                <a:solidFill>
                  <a:srgbClr val="A8B8CC"/>
                </a:solidFill>
                <a:latin typeface="Courier New"/>
                <a:ea typeface="Courier New" pitchFamily="34" charset="-122"/>
                <a:cs typeface="Courier New"/>
              </a:rPr>
              <a:t>traceability</a:t>
            </a:r>
            <a:endParaRPr lang="en-US" sz="850">
              <a:latin typeface="Courier New"/>
              <a:ea typeface="Calibri"/>
              <a:cs typeface="Courier New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513832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qualityfolio.dev · Confidential</a:t>
            </a:r>
            <a:endParaRPr lang="en-US" sz="8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2E85DCAC-1035-B02E-E677-BAE0672219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88157" y="654420"/>
            <a:ext cx="7309191" cy="54318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274320"/>
            <a:ext cx="141732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Tracking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Defect Lifecycle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70078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as code. Linked to evidence. Never orphaned.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declared at point of failure as BUG-XXXX.md — directly linked to the failing run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metadata: severity, priority, assigned, status — all queryable in SQL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states: OPEN → IN PROGRESS → RESOLVED → REJECTED — tracked in Git history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test detection: pass-rate queries identify cases with &gt;5% failure variance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/ ServiceNow auto-ticket integration — bug creates ticket at detection time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" y="5779008"/>
            <a:ext cx="1176528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8016" y="5833872"/>
            <a:ext cx="1103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" y="6236208"/>
            <a:ext cx="1103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History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41120" y="5779008"/>
            <a:ext cx="1176528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7696" y="5833872"/>
            <a:ext cx="1103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7696" y="6236208"/>
            <a:ext cx="1103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Detect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90800" y="5779008"/>
            <a:ext cx="1176528" cy="960120"/>
          </a:xfrm>
          <a:prstGeom prst="rect">
            <a:avLst/>
          </a:prstGeom>
          <a:solidFill>
            <a:srgbClr val="0F2040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27376" y="5833872"/>
            <a:ext cx="11033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27376" y="6236208"/>
            <a:ext cx="1103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A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Tickets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06240" y="228600"/>
            <a:ext cx="7708392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56532" y="333756"/>
            <a:ext cx="82296" cy="8229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66260" y="333756"/>
            <a:ext cx="82296" cy="8229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475988" y="333756"/>
            <a:ext cx="82296" cy="8229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08576" y="274320"/>
            <a:ext cx="7214616" cy="201168"/>
          </a:xfrm>
          <a:prstGeom prst="rect">
            <a:avLst/>
          </a:prstGeom>
          <a:solidFill>
            <a:srgbClr val="2D3D50"/>
          </a:solidFill>
          <a:ln w="12700">
            <a:solidFill>
              <a:srgbClr val="3A4D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81728" y="283464"/>
            <a:ext cx="7104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B8CC"/>
                </a:solidFill>
                <a:ea typeface="+mn-lt"/>
                <a:cs typeface="+mn-lt"/>
              </a:rPr>
              <a:t>https://demo.qualityfolio.dev</a:t>
            </a:r>
            <a:r>
              <a:rPr lang="en-US" sz="850">
                <a:solidFill>
                  <a:srgbClr val="A8B8CC"/>
                </a:solidFill>
                <a:ea typeface="+mn-lt"/>
                <a:cs typeface="+mn-lt"/>
              </a:rPr>
              <a:t>/</a:t>
            </a:r>
            <a:r>
              <a:rPr lang="en-US" sz="850" dirty="0">
                <a:solidFill>
                  <a:srgbClr val="A8B8CC"/>
                </a:solidFill>
                <a:latin typeface="Courier New"/>
                <a:ea typeface="Courier New" pitchFamily="34" charset="-122"/>
                <a:cs typeface="Courier New"/>
              </a:rPr>
              <a:t>bugs</a:t>
            </a:r>
            <a:endParaRPr lang="en-US" sz="850" dirty="0">
              <a:latin typeface="Courier New"/>
              <a:cs typeface="Courier New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950708" y="3204972"/>
            <a:ext cx="219456" cy="219456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513832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qualityfolio.dev · Confidential</a:t>
            </a:r>
            <a:endParaRPr lang="en-US" sz="8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D377BFF-6852-5F7E-A469-A87DDBB938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87317" y="636492"/>
            <a:ext cx="7296372" cy="54204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64592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EVIDENCE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 Is a Query.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Is Evidence.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SQL — testable, version-controllable, auditor-defensible.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93392"/>
            <a:ext cx="3758184" cy="4361688"/>
          </a:xfrm>
          <a:prstGeom prst="rect">
            <a:avLst/>
          </a:prstGeom>
          <a:solidFill>
            <a:srgbClr val="0A1829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993392"/>
            <a:ext cx="3758184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" y="2121408"/>
            <a:ext cx="3557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2: Access control tests Q3 2025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" y="2487168"/>
            <a:ext cx="3557016" cy="3557016"/>
          </a:xfrm>
          <a:prstGeom prst="rect">
            <a:avLst/>
          </a:prstGeom>
          <a:solidFill>
            <a:srgbClr val="050E1A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2064" y="2523744"/>
            <a:ext cx="3483864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ose.exec_nature AS test,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ose.exec_status AS status,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os.orch_started_at AS run_time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orchestration_session_exec ose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orchestration_session os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ose.orchestration_session_id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os.orchestration_session_id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ose.exec_nature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LIKE '%access-control%'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os.orch_started_at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BETWEEN '2025-07-01'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'2025-09-30'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os.orch_started_at DESC;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6025896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to: SOC 2 CC6.1 · CC6.2 · CC7.1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06240" y="1993392"/>
            <a:ext cx="3758184" cy="4361688"/>
          </a:xfrm>
          <a:prstGeom prst="rect">
            <a:avLst/>
          </a:prstGeom>
          <a:solidFill>
            <a:srgbClr val="0A1829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06240" y="1993392"/>
            <a:ext cx="3758184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34256" y="2121408"/>
            <a:ext cx="3557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FDA: Computer system validation report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15968" y="2487168"/>
            <a:ext cx="3557016" cy="3557016"/>
          </a:xfrm>
          <a:prstGeom prst="rect">
            <a:avLst/>
          </a:prstGeom>
          <a:solidFill>
            <a:srgbClr val="050E1A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52544" y="2523744"/>
            <a:ext cx="3483864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json_extract(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ose.diagnostics_json,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'$.test_id') AS test_id,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json_extract(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ose.diagnostics_json,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'$.validation_category')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category,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ose.exec_status,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json_extract(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ose.diagnostics_json,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'$.requirement_ids') AS reqs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orchestration_session_exec ose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json_extract(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ose.diagnostics_json,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'$.validation_category')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'computer_system_validation';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315968" y="6025896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21 CFR Part 11 · GxP validation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46720" y="1993392"/>
            <a:ext cx="3758184" cy="4361688"/>
          </a:xfrm>
          <a:prstGeom prst="rect">
            <a:avLst/>
          </a:prstGeom>
          <a:solidFill>
            <a:srgbClr val="0A1829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046720" y="1993392"/>
            <a:ext cx="3758184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174736" y="2121408"/>
            <a:ext cx="3557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tests: assurance risk detection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56448" y="2487168"/>
            <a:ext cx="3557016" cy="3557016"/>
          </a:xfrm>
          <a:prstGeom prst="rect">
            <a:avLst/>
          </a:prstGeom>
          <a:solidFill>
            <a:srgbClr val="050E1A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193024" y="2523744"/>
            <a:ext cx="3483864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ose.exec_nature AS test,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COUNT(*) AS runs,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SUM(CASE WHEN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ose.exec_status='PASSED'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1 ELSE 0 END)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passes,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ROUND(100.0 * passes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 COUNT(*), 2)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pass_rate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orchestration_session_exec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ose.exec_nature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COUNT(*) &gt; 5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pass_rate &lt; 95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pass_rate ASC;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156448" y="6025896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— who, when, before/after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queries run against surveilr — append-only SQLite. Same query = QA evidence + audit evidence.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3716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Compliance Mapping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 case maps to a control. Audit packages are a SQL query, not a sprint.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3727704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54864" cy="8778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0352" y="1828800"/>
            <a:ext cx="3453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 &amp; II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2176272"/>
            <a:ext cx="3453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CC6.1,CC6.2,CC7.1,CC8.1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84904" y="1719072"/>
            <a:ext cx="3727704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84904" y="1719072"/>
            <a:ext cx="54864" cy="8778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49496" y="1828800"/>
            <a:ext cx="3453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21 CFR Part 11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49496" y="2176272"/>
            <a:ext cx="3453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11.10(a–k),Part 11.50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4048" y="1719072"/>
            <a:ext cx="3727704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04048" y="1719072"/>
            <a:ext cx="54864" cy="87782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68640" y="1828800"/>
            <a:ext cx="3453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68640" y="2176272"/>
            <a:ext cx="3453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§164.312(a)(1),§164.312(c)(1)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724912"/>
            <a:ext cx="3727704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2724912"/>
            <a:ext cx="54864" cy="87782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0352" y="2834640"/>
            <a:ext cx="3453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" y="3182112"/>
            <a:ext cx="3453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A.9.4.1,A.10.1.1,A.12.6.1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84904" y="2724912"/>
            <a:ext cx="3727704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84904" y="2724912"/>
            <a:ext cx="54864" cy="8778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49496" y="2834640"/>
            <a:ext cx="3453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GxP / CSV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49496" y="3182112"/>
            <a:ext cx="3453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IQ,OQ,PQ,DQ protocols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04048" y="2724912"/>
            <a:ext cx="3727704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004048" y="2724912"/>
            <a:ext cx="54864" cy="877824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168640" y="2834640"/>
            <a:ext cx="3453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CMMC Level 2+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68640" y="3182112"/>
            <a:ext cx="3453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AC.1.001,CM.2.061,SI.1.210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749040"/>
            <a:ext cx="11503152" cy="1901952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54864" cy="1901952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66928" y="382219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Reaches Opsfolio Suite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6928" y="4187952"/>
            <a:ext cx="1100023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Qualityfolio test execution records are ingested into the Opsfolio Suite Evidence Warehouse automatically.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evidence record is tagged with framework controls at ingest time — SOC 2, HIPAA, FDA in one record.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Opsfolio Audit Center queries Qualityfolio evidence to populate audit packages on demand. No manual assembly.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gaps surface as Operational Truth™ gap signals — uninstrumented controls are never assumed compliant.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432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qualityfolio.dev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3716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Where Your Evidence Needs to Live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sovereignty: your evidence, your infrastructure, your audit chain.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2795778" cy="4690872"/>
          </a:xfrm>
          <a:prstGeom prst="rect">
            <a:avLst/>
          </a:prstGeom>
          <a:solidFill>
            <a:srgbClr val="0D1E38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2795778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64008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194560"/>
            <a:ext cx="256717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Git-Hosted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GitOps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2926080"/>
            <a:ext cx="256717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artifacts live in your own Git repo. CI/CD ingests evidence into surveilr automatically. Audit trail = your commit history.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4425696"/>
            <a:ext cx="2567178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repo, your CI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commit-level history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GitHub/GitLab/Bitbucket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GitOps-compatible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16402" y="1664208"/>
            <a:ext cx="2795778" cy="4690872"/>
          </a:xfrm>
          <a:prstGeom prst="rect">
            <a:avLst/>
          </a:prstGeom>
          <a:solidFill>
            <a:srgbClr val="0D1E38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16402" y="1664208"/>
            <a:ext cx="2795778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353562" y="1828800"/>
            <a:ext cx="64008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53562" y="1828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53562" y="2194560"/>
            <a:ext cx="256717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Self-Hosted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53562" y="2926080"/>
            <a:ext cx="256717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surveilr on any machine. Evidence stored in local SQLite. No internet required. Auditors access the db directly via SQL.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53562" y="4425696"/>
            <a:ext cx="2567178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required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evidence store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infrastructure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SQL access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67044" y="1664208"/>
            <a:ext cx="2795778" cy="4690872"/>
          </a:xfrm>
          <a:prstGeom prst="rect">
            <a:avLst/>
          </a:prstGeom>
          <a:solidFill>
            <a:srgbClr val="0D1E38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67044" y="1664208"/>
            <a:ext cx="2795778" cy="914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04204" y="1828800"/>
            <a:ext cx="640080" cy="25603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04204" y="1828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AIRGAP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04204" y="2194560"/>
            <a:ext cx="256717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Validated Lab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04204" y="2926080"/>
            <a:ext cx="256717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control for FDA-regulated, GxP, or classified environments. Manual transfer. Offline operation. Sync when permitted.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04204" y="4425696"/>
            <a:ext cx="2567178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network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evidence sync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21 CFR Part 11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GxP validated mode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17686" y="1664208"/>
            <a:ext cx="2795778" cy="4690872"/>
          </a:xfrm>
          <a:prstGeom prst="rect">
            <a:avLst/>
          </a:prstGeom>
          <a:solidFill>
            <a:srgbClr val="0D1E38"/>
          </a:solidFill>
          <a:ln w="12700">
            <a:solidFill>
              <a:srgbClr val="1A3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917686" y="1664208"/>
            <a:ext cx="2795778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054846" y="1828800"/>
            <a:ext cx="64008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054846" y="18288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054846" y="2194560"/>
            <a:ext cx="256717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Cloud-Native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54846" y="2926080"/>
            <a:ext cx="2567178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Jenkins, GitHub Actions, GitLab CI. surveilr ingest runs as a pipeline step. Evidence generated automatically on every PR merge.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054846" y="4425696"/>
            <a:ext cx="2567178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/ GH Actions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PR-triggered evidence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Jira alerts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surveilr DB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432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SaaS option coming soon  ·  qualityfolio.dev/deployment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Guarantee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274552" cy="1508760"/>
          </a:xfrm>
          <a:prstGeom prst="rect">
            <a:avLst/>
          </a:prstGeom>
          <a:solidFill>
            <a:srgbClr val="0D1E38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77163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guarantee your audit outcome. If you follow our process and don’t pass, we keep working — at our cost — until you do.”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365760" y="2670048"/>
            <a:ext cx="2708910" cy="1261872"/>
          </a:xfrm>
          <a:prstGeom prst="rect">
            <a:avLst/>
          </a:prstGeom>
          <a:solidFill>
            <a:srgbClr val="0D1E38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0624" y="2798064"/>
            <a:ext cx="2599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20624" y="3419856"/>
            <a:ext cx="25991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Pass Rate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84398" y="2670048"/>
            <a:ext cx="2708910" cy="1261872"/>
          </a:xfrm>
          <a:prstGeom prst="rect">
            <a:avLst/>
          </a:prstGeom>
          <a:solidFill>
            <a:srgbClr val="0D1E38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39262" y="2798064"/>
            <a:ext cx="2599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39262" y="3419856"/>
            <a:ext cx="25991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Audit-Ready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03036" y="2670048"/>
            <a:ext cx="2708910" cy="1261872"/>
          </a:xfrm>
          <a:prstGeom prst="rect">
            <a:avLst/>
          </a:prstGeom>
          <a:solidFill>
            <a:srgbClr val="0D1E38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57900" y="2798064"/>
            <a:ext cx="2599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57900" y="3419856"/>
            <a:ext cx="25991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on Demand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821674" y="2670048"/>
            <a:ext cx="2708910" cy="1261872"/>
          </a:xfrm>
          <a:prstGeom prst="rect">
            <a:avLst/>
          </a:prstGeom>
          <a:solidFill>
            <a:srgbClr val="0D1E38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876538" y="2798064"/>
            <a:ext cx="2599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CaaS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876538" y="3419856"/>
            <a:ext cx="25991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Model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96512"/>
            <a:ext cx="11274552" cy="1572768"/>
          </a:xfrm>
          <a:prstGeom prst="rect">
            <a:avLst/>
          </a:prstGeom>
          <a:solidFill>
            <a:srgbClr val="0D1E38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4096512"/>
            <a:ext cx="54864" cy="1572768"/>
          </a:xfrm>
          <a:prstGeom prst="rect">
            <a:avLst/>
          </a:prstGeom>
          <a:solidFill>
            <a:srgbClr val="00A99D"/>
          </a:solidFill>
          <a:ln w="12700">
            <a:solidFill>
              <a:srgbClr val="00A9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" y="4169664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as a Service (CaaS) Delivery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" y="4553712"/>
            <a:ext cx="10908792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Netspective deploys Qualityfolio against your test infrastructure, CI/CD pipelines, and compliance framework. Pre-built strategy templates cover 60–70% of SOC 2 and FDA testing surface from day one. We deliver compliance engineering capability — not just a license.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qualityfolio.dev  ·  opsfolio.com  ·  Netspective Communications LLC  ·  May 2026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82496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340864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999232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0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315968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74336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32704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91072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49440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07808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66176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924544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582912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241280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899648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558016" y="32004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24128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682496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340864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99232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0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315968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974336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632704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291072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949440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607808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266176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924544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582912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241280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0899648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1558016" y="94183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65760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024128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682496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340864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999232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657600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315968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974336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632704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291072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949440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607808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8266176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8924544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9582912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0241280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0899648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1558016" y="156362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365760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024128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682496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340864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2999232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3657600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315968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974336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5632704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6291072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949440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7607808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8266176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8924544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9582912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0241280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0899648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1558016" y="218541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365760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024128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682496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2340864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999232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3657600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4315968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4974336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5632704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6291072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6949440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7607808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8266176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8924544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9582912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10241280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10899648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11558016" y="280720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365760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1024128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1682496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2340864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2999232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3657600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4315968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4974336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5632704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6291072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6949440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7607808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8266176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8924544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9582912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10241280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10899648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11558016" y="3429000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365760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1024128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1682496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2340864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2999232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3657600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4315968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4974336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5632704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6291072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6949440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7607808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8266176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8924544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9582912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10241280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10899648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11558016" y="4050792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365760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1024128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1682496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2340864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2999232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3657600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4315968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4974336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5632704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6291072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6949440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7607808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8266176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8924544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9582912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10241280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10899648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11558016" y="4672584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365760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1024128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1682496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2340864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2999232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3657600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4315968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4974336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5632704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6291072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6949440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7607808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8266176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8924544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9582912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10241280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10899648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11558016" y="5294376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365760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1024128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1682496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2340864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2999232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3657600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4315968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4974336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5632704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6291072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6949440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7607808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8266176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8924544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9582912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10241280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10899648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11558016" y="5916168"/>
            <a:ext cx="54864" cy="54864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Text 180"/>
          <p:cNvSpPr/>
          <p:nvPr/>
        </p:nvSpPr>
        <p:spPr>
          <a:xfrm>
            <a:off x="502920" y="384048"/>
            <a:ext cx="594360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Prove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Quality?</a:t>
            </a:r>
            <a:endParaRPr lang="en-US" sz="4400" dirty="0"/>
          </a:p>
        </p:txBody>
      </p:sp>
      <p:sp>
        <p:nvSpPr>
          <p:cNvPr id="183" name="Text 181"/>
          <p:cNvSpPr/>
          <p:nvPr/>
        </p:nvSpPr>
        <p:spPr>
          <a:xfrm>
            <a:off x="502920" y="223113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Qualityfolio  ·  Opsfolio Suite  ·  Fleetfolio</a:t>
            </a:r>
            <a:endParaRPr lang="en-US" sz="1600" dirty="0"/>
          </a:p>
        </p:txBody>
      </p:sp>
      <p:sp>
        <p:nvSpPr>
          <p:cNvPr id="184" name="Shape 182"/>
          <p:cNvSpPr/>
          <p:nvPr/>
        </p:nvSpPr>
        <p:spPr>
          <a:xfrm>
            <a:off x="320040" y="2724912"/>
            <a:ext cx="2554529" cy="3630168"/>
          </a:xfrm>
          <a:prstGeom prst="rect">
            <a:avLst/>
          </a:prstGeom>
          <a:solidFill>
            <a:srgbClr val="0D1E38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320040" y="2724912"/>
            <a:ext cx="2554529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1341272" y="2889504"/>
            <a:ext cx="512064" cy="51206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Text 185"/>
          <p:cNvSpPr/>
          <p:nvPr/>
        </p:nvSpPr>
        <p:spPr>
          <a:xfrm>
            <a:off x="1341272" y="28895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88" name="Text 186"/>
          <p:cNvSpPr/>
          <p:nvPr/>
        </p:nvSpPr>
        <p:spPr>
          <a:xfrm>
            <a:off x="484632" y="3529584"/>
            <a:ext cx="22253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Your First Test</a:t>
            </a:r>
            <a:endParaRPr lang="en-US" sz="1400" dirty="0"/>
          </a:p>
        </p:txBody>
      </p:sp>
      <p:sp>
        <p:nvSpPr>
          <p:cNvPr id="189" name="Text 187"/>
          <p:cNvSpPr/>
          <p:nvPr/>
        </p:nvSpPr>
        <p:spPr>
          <a:xfrm>
            <a:off x="484632" y="4041648"/>
            <a:ext cx="2225345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qf init --template=soc2 and author your first test case in Markdown. Evidence starts flowing on your next CI run.</a:t>
            </a:r>
            <a:endParaRPr lang="en-US" sz="1100" dirty="0"/>
          </a:p>
        </p:txBody>
      </p:sp>
      <p:sp>
        <p:nvSpPr>
          <p:cNvPr id="190" name="Shape 188"/>
          <p:cNvSpPr/>
          <p:nvPr/>
        </p:nvSpPr>
        <p:spPr>
          <a:xfrm>
            <a:off x="3057449" y="2724912"/>
            <a:ext cx="2554529" cy="3630168"/>
          </a:xfrm>
          <a:prstGeom prst="rect">
            <a:avLst/>
          </a:prstGeom>
          <a:solidFill>
            <a:srgbClr val="0D1E3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3057449" y="2724912"/>
            <a:ext cx="2554529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4078681" y="2889504"/>
            <a:ext cx="512064" cy="51206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Text 191"/>
          <p:cNvSpPr/>
          <p:nvPr/>
        </p:nvSpPr>
        <p:spPr>
          <a:xfrm>
            <a:off x="4078681" y="28895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94" name="Text 192"/>
          <p:cNvSpPr/>
          <p:nvPr/>
        </p:nvSpPr>
        <p:spPr>
          <a:xfrm>
            <a:off x="3222041" y="3529584"/>
            <a:ext cx="22253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 Cycle</a:t>
            </a:r>
            <a:endParaRPr lang="en-US" sz="1400" dirty="0"/>
          </a:p>
        </p:txBody>
      </p:sp>
      <p:sp>
        <p:nvSpPr>
          <p:cNvPr id="195" name="Text 193"/>
          <p:cNvSpPr/>
          <p:nvPr/>
        </p:nvSpPr>
        <p:spPr>
          <a:xfrm>
            <a:off x="3222041" y="4041648"/>
            <a:ext cx="2225345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 test cycle against your staging environment. Every result is a timestamped, immutable evidence record in surveilr.</a:t>
            </a:r>
            <a:endParaRPr lang="en-US" sz="1100" dirty="0"/>
          </a:p>
        </p:txBody>
      </p:sp>
      <p:sp>
        <p:nvSpPr>
          <p:cNvPr id="196" name="Shape 194"/>
          <p:cNvSpPr/>
          <p:nvPr/>
        </p:nvSpPr>
        <p:spPr>
          <a:xfrm>
            <a:off x="5794858" y="2724912"/>
            <a:ext cx="2554529" cy="3630168"/>
          </a:xfrm>
          <a:prstGeom prst="rect">
            <a:avLst/>
          </a:prstGeom>
          <a:solidFill>
            <a:srgbClr val="0D1E38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5794858" y="2724912"/>
            <a:ext cx="2554529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6816090" y="2889504"/>
            <a:ext cx="512064" cy="51206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Text 197"/>
          <p:cNvSpPr/>
          <p:nvPr/>
        </p:nvSpPr>
        <p:spPr>
          <a:xfrm>
            <a:off x="6816090" y="28895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0" name="Text 198"/>
          <p:cNvSpPr/>
          <p:nvPr/>
        </p:nvSpPr>
        <p:spPr>
          <a:xfrm>
            <a:off x="5959450" y="3529584"/>
            <a:ext cx="22253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 Audit Package</a:t>
            </a:r>
            <a:endParaRPr lang="en-US" sz="1400" dirty="0"/>
          </a:p>
        </p:txBody>
      </p:sp>
      <p:sp>
        <p:nvSpPr>
          <p:cNvPr id="201" name="Text 199"/>
          <p:cNvSpPr/>
          <p:nvPr/>
        </p:nvSpPr>
        <p:spPr>
          <a:xfrm>
            <a:off x="5959450" y="4041648"/>
            <a:ext cx="2225345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30 days: query surveilr to produce your first SOC 2 or FDA evidence package. No sprint. No screenshots.</a:t>
            </a:r>
            <a:endParaRPr lang="en-US" sz="1100" dirty="0"/>
          </a:p>
        </p:txBody>
      </p:sp>
      <p:sp>
        <p:nvSpPr>
          <p:cNvPr id="202" name="Shape 200"/>
          <p:cNvSpPr/>
          <p:nvPr/>
        </p:nvSpPr>
        <p:spPr>
          <a:xfrm>
            <a:off x="8532266" y="2724912"/>
            <a:ext cx="3382366" cy="3630168"/>
          </a:xfrm>
          <a:prstGeom prst="rect">
            <a:avLst/>
          </a:prstGeom>
          <a:solidFill>
            <a:srgbClr val="0D1E38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Text 201"/>
          <p:cNvSpPr/>
          <p:nvPr/>
        </p:nvSpPr>
        <p:spPr>
          <a:xfrm>
            <a:off x="8733434" y="2926080"/>
            <a:ext cx="31537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Us</a:t>
            </a:r>
            <a:endParaRPr lang="en-US" sz="1600" dirty="0"/>
          </a:p>
        </p:txBody>
      </p:sp>
      <p:sp>
        <p:nvSpPr>
          <p:cNvPr id="204" name="Text 202"/>
          <p:cNvSpPr/>
          <p:nvPr/>
        </p:nvSpPr>
        <p:spPr>
          <a:xfrm>
            <a:off x="8733434" y="341071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QA:</a:t>
            </a:r>
            <a:endParaRPr lang="en-US" sz="1150" dirty="0"/>
          </a:p>
        </p:txBody>
      </p:sp>
      <p:sp>
        <p:nvSpPr>
          <p:cNvPr id="205" name="Text 203"/>
          <p:cNvSpPr/>
          <p:nvPr/>
        </p:nvSpPr>
        <p:spPr>
          <a:xfrm>
            <a:off x="9410090" y="3410712"/>
            <a:ext cx="24679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qualityfolio.dev</a:t>
            </a:r>
            <a:endParaRPr lang="en-US" sz="1150" dirty="0"/>
          </a:p>
        </p:txBody>
      </p:sp>
      <p:sp>
        <p:nvSpPr>
          <p:cNvPr id="206" name="Text 204"/>
          <p:cNvSpPr/>
          <p:nvPr/>
        </p:nvSpPr>
        <p:spPr>
          <a:xfrm>
            <a:off x="8733434" y="3941064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Suite:</a:t>
            </a:r>
            <a:endParaRPr lang="en-US" sz="1150" dirty="0"/>
          </a:p>
        </p:txBody>
      </p:sp>
      <p:sp>
        <p:nvSpPr>
          <p:cNvPr id="207" name="Text 205"/>
          <p:cNvSpPr/>
          <p:nvPr/>
        </p:nvSpPr>
        <p:spPr>
          <a:xfrm>
            <a:off x="9410090" y="3941064"/>
            <a:ext cx="24679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opsfolio.com</a:t>
            </a:r>
            <a:endParaRPr lang="en-US" sz="1150" dirty="0"/>
          </a:p>
        </p:txBody>
      </p:sp>
      <p:sp>
        <p:nvSpPr>
          <p:cNvPr id="208" name="Text 206"/>
          <p:cNvSpPr/>
          <p:nvPr/>
        </p:nvSpPr>
        <p:spPr>
          <a:xfrm>
            <a:off x="8733434" y="447141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Fleet:</a:t>
            </a:r>
            <a:endParaRPr lang="en-US" sz="1150" dirty="0"/>
          </a:p>
        </p:txBody>
      </p:sp>
      <p:sp>
        <p:nvSpPr>
          <p:cNvPr id="209" name="Text 207"/>
          <p:cNvSpPr/>
          <p:nvPr/>
        </p:nvSpPr>
        <p:spPr>
          <a:xfrm>
            <a:off x="9410090" y="4471416"/>
            <a:ext cx="24679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fleetfolio.dev</a:t>
            </a:r>
            <a:endParaRPr lang="en-US" sz="1150" dirty="0"/>
          </a:p>
        </p:txBody>
      </p:sp>
      <p:sp>
        <p:nvSpPr>
          <p:cNvPr id="210" name="Text 208"/>
          <p:cNvSpPr/>
          <p:nvPr/>
        </p:nvSpPr>
        <p:spPr>
          <a:xfrm>
            <a:off x="8733434" y="500176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</a:t>
            </a:r>
            <a:endParaRPr lang="en-US" sz="1150" dirty="0"/>
          </a:p>
        </p:txBody>
      </p:sp>
      <p:sp>
        <p:nvSpPr>
          <p:cNvPr id="211" name="Text 209"/>
          <p:cNvSpPr/>
          <p:nvPr/>
        </p:nvSpPr>
        <p:spPr>
          <a:xfrm>
            <a:off x="9410090" y="5001768"/>
            <a:ext cx="246796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sales@opsfolio.com</a:t>
            </a:r>
            <a:endParaRPr lang="en-US" sz="1150" dirty="0"/>
          </a:p>
        </p:txBody>
      </p:sp>
      <p:sp>
        <p:nvSpPr>
          <p:cNvPr id="212" name="Shape 210"/>
          <p:cNvSpPr/>
          <p:nvPr/>
        </p:nvSpPr>
        <p:spPr>
          <a:xfrm>
            <a:off x="8733434" y="5696712"/>
            <a:ext cx="2998318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Text 211"/>
          <p:cNvSpPr/>
          <p:nvPr/>
        </p:nvSpPr>
        <p:spPr>
          <a:xfrm>
            <a:off x="8733434" y="5696712"/>
            <a:ext cx="29983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Live Demo</a:t>
            </a:r>
            <a:endParaRPr lang="en-US" sz="1200" dirty="0"/>
          </a:p>
        </p:txBody>
      </p:sp>
      <p:sp>
        <p:nvSpPr>
          <p:cNvPr id="214" name="Shape 21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Text 213"/>
          <p:cNvSpPr/>
          <p:nvPr/>
        </p:nvSpPr>
        <p:spPr>
          <a:xfrm>
            <a:off x="274320" y="651052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qualityfolio.dev  ·  Confidential  ·  Netspective Communications LLC  ·  May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2516</Words>
  <Application>Microsoft Office PowerPoint</Application>
  <PresentationFormat>Widescreen</PresentationFormat>
  <Paragraphs>379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Qualityfolio Product Tour</dc:title>
  <dc:subject>PptxGenJS Presentation</dc:subject>
  <dc:creator>Netspective Communications LLC</dc:creator>
  <cp:lastModifiedBy>pm 14</cp:lastModifiedBy>
  <cp:revision>33</cp:revision>
  <dcterms:created xsi:type="dcterms:W3CDTF">2026-05-05T19:04:47Z</dcterms:created>
  <dcterms:modified xsi:type="dcterms:W3CDTF">2026-05-06T08:42:35Z</dcterms:modified>
</cp:coreProperties>
</file>