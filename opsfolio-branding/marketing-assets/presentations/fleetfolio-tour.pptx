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30352" y="3474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30352" y="10789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30352" y="18105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30352" y="25420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30352" y="327355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30352" y="40050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30352" y="47365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30352" y="54681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30352" y="61996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261872" y="3474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261872" y="10789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261872" y="18105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261872" y="25420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261872" y="327355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261872" y="40050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261872" y="47365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261872" y="54681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261872" y="61996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993392" y="3474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993392" y="10789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993392" y="18105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993392" y="25420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993392" y="327355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993392" y="40050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993392" y="47365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993392" y="54681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993392" y="61996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724912" y="3474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724912" y="10789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2724912" y="18105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2724912" y="25420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724912" y="327355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2724912" y="40050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724912" y="47365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2724912" y="54681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2724912" y="61996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456432" y="3474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456432" y="10789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3456432" y="18105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3456432" y="25420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3456432" y="327355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3456432" y="40050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3456432" y="47365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3456432" y="54681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3456432" y="61996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187952" y="3474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187952" y="10789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4187952" y="18105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4187952" y="25420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4187952" y="327355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4187952" y="40050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4187952" y="47365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4187952" y="54681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4187952" y="61996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4919472" y="3474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4919472" y="10789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4919472" y="18105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4919472" y="25420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4919472" y="327355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4919472" y="40050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4919472" y="47365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4919472" y="54681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4919472" y="61996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650992" y="3474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5650992" y="10789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5650992" y="18105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5650992" y="25420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5650992" y="327355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5650992" y="40050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5650992" y="47365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5650992" y="54681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5650992" y="61996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6382512" y="3474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6382512" y="10789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6382512" y="18105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6382512" y="25420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6382512" y="327355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6382512" y="40050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6382512" y="47365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6382512" y="54681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6382512" y="61996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7114032" y="3474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7114032" y="10789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7114032" y="18105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7114032" y="25420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7114032" y="327355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7114032" y="40050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7114032" y="47365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7114032" y="54681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7114032" y="61996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7845552" y="3474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7845552" y="10789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7845552" y="18105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7845552" y="25420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7845552" y="327355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7845552" y="40050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7845552" y="47365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7845552" y="54681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7845552" y="61996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8577072" y="3474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8577072" y="10789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8577072" y="18105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8577072" y="25420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8577072" y="327355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8577072" y="40050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8577072" y="47365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8577072" y="54681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8577072" y="61996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9308592" y="3474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9308592" y="10789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9308592" y="18105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9308592" y="25420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9308592" y="327355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9308592" y="40050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>
            <a:off x="9308592" y="47365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>
            <a:off x="9308592" y="54681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>
            <a:off x="9308592" y="61996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10040112" y="3474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>
            <a:off x="10040112" y="10789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>
            <a:off x="10040112" y="18105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>
            <a:off x="10040112" y="25420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10040112" y="327355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>
            <a:off x="10040112" y="40050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>
            <a:off x="10040112" y="47365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>
            <a:off x="10040112" y="54681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10040112" y="61996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>
            <a:off x="10771632" y="3474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>
            <a:off x="10771632" y="10789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>
            <a:off x="10771632" y="18105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>
            <a:off x="10771632" y="25420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>
            <a:off x="10771632" y="327355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>
            <a:off x="10771632" y="40050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3"/>
          <p:cNvSpPr/>
          <p:nvPr/>
        </p:nvSpPr>
        <p:spPr>
          <a:xfrm>
            <a:off x="10771632" y="47365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4"/>
          <p:cNvSpPr/>
          <p:nvPr/>
        </p:nvSpPr>
        <p:spPr>
          <a:xfrm>
            <a:off x="10771632" y="54681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>
            <a:off x="10771632" y="61996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>
            <a:off x="11503152" y="3474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>
            <a:off x="11503152" y="10789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>
            <a:off x="11503152" y="18105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>
            <a:off x="11503152" y="25420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>
            <a:off x="11503152" y="327355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>
            <a:off x="11503152" y="400507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2"/>
          <p:cNvSpPr/>
          <p:nvPr/>
        </p:nvSpPr>
        <p:spPr>
          <a:xfrm>
            <a:off x="11503152" y="473659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3"/>
          <p:cNvSpPr/>
          <p:nvPr/>
        </p:nvSpPr>
        <p:spPr>
          <a:xfrm>
            <a:off x="11503152" y="546811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Shape 144"/>
          <p:cNvSpPr/>
          <p:nvPr/>
        </p:nvSpPr>
        <p:spPr>
          <a:xfrm>
            <a:off x="11503152" y="6199632"/>
            <a:ext cx="36576" cy="36576"/>
          </a:xfrm>
          <a:prstGeom prst="ellipse">
            <a:avLst/>
          </a:prstGeom>
          <a:solidFill>
            <a:srgbClr val="0D2A40"/>
          </a:solidFill>
          <a:ln w="12700">
            <a:solidFill>
              <a:srgbClr val="0D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Shape 145"/>
          <p:cNvSpPr/>
          <p:nvPr/>
        </p:nvSpPr>
        <p:spPr>
          <a:xfrm>
            <a:off x="640080" y="1417320"/>
            <a:ext cx="1645920" cy="2743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Text 146"/>
          <p:cNvSpPr/>
          <p:nvPr/>
        </p:nvSpPr>
        <p:spPr>
          <a:xfrm>
            <a:off x="640080" y="141732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TOUR</a:t>
            </a:r>
            <a:endParaRPr lang="en-US" sz="1000" dirty="0"/>
          </a:p>
        </p:txBody>
      </p:sp>
      <p:sp>
        <p:nvSpPr>
          <p:cNvPr id="149" name="Text 147"/>
          <p:cNvSpPr/>
          <p:nvPr/>
        </p:nvSpPr>
        <p:spPr>
          <a:xfrm>
            <a:off x="640080" y="1783080"/>
            <a:ext cx="8229600" cy="12801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Fleetfolio</a:t>
            </a:r>
            <a:endParaRPr lang="en-US" sz="5800" dirty="0"/>
          </a:p>
        </p:txBody>
      </p:sp>
      <p:sp>
        <p:nvSpPr>
          <p:cNvPr id="150" name="Text 148"/>
          <p:cNvSpPr/>
          <p:nvPr/>
        </p:nvSpPr>
        <p:spPr>
          <a:xfrm>
            <a:off x="640080" y="3154680"/>
            <a:ext cx="8686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State You Can Query.  Evidence You Can Prove.</a:t>
            </a:r>
            <a:endParaRPr lang="en-US" sz="1700" dirty="0"/>
          </a:p>
        </p:txBody>
      </p:sp>
      <p:sp>
        <p:nvSpPr>
          <p:cNvPr id="151" name="Shape 149"/>
          <p:cNvSpPr/>
          <p:nvPr/>
        </p:nvSpPr>
        <p:spPr>
          <a:xfrm>
            <a:off x="640080" y="3749040"/>
            <a:ext cx="7315200" cy="0"/>
          </a:xfrm>
          <a:prstGeom prst="line">
            <a:avLst/>
          </a:prstGeom>
          <a:noFill/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Text 150"/>
          <p:cNvSpPr/>
          <p:nvPr/>
        </p:nvSpPr>
        <p:spPr>
          <a:xfrm>
            <a:off x="640080" y="3886200"/>
            <a:ext cx="8595360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SQL-native endpoint detection, continuous posture management, and audit-grade evidence — built for security leaders who need to prove control effectiveness, not just claim it.</a:t>
            </a:r>
            <a:endParaRPr lang="en-US" sz="1400" dirty="0"/>
          </a:p>
        </p:txBody>
      </p:sp>
      <p:sp>
        <p:nvSpPr>
          <p:cNvPr id="153" name="Text 151"/>
          <p:cNvSpPr/>
          <p:nvPr/>
        </p:nvSpPr>
        <p:spPr>
          <a:xfrm>
            <a:off x="8348472" y="6355080"/>
            <a:ext cx="34747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Netspective Communications LLC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Text 153"/>
          <p:cNvSpPr/>
          <p:nvPr/>
        </p:nvSpPr>
        <p:spPr>
          <a:xfrm>
            <a:off x="365760" y="6565392"/>
            <a:ext cx="11457432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fleetfolio.dev  ·  Confidential  ·  May 2026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A2240"/>
          </a:solidFill>
          <a:ln w="12700">
            <a:solidFill>
              <a:srgbClr val="0A22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11274552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Tour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75304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575304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21792" y="1444752"/>
            <a:ext cx="59436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21792" y="1956816"/>
            <a:ext cx="3255264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Insecurity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21792" y="2377440"/>
            <a:ext cx="3346704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passing audits doesn't mean you're secure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15384" y="1280160"/>
            <a:ext cx="3575304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215384" y="1280160"/>
            <a:ext cx="3575304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79976" y="1444752"/>
            <a:ext cx="59436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379976" y="1956816"/>
            <a:ext cx="3255264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379976" y="2377440"/>
            <a:ext cx="3346704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SQL-native EDR and the evidence-first difference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73568" y="1280160"/>
            <a:ext cx="3575304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973568" y="1280160"/>
            <a:ext cx="3575304" cy="109728"/>
          </a:xfrm>
          <a:prstGeom prst="rect">
            <a:avLst/>
          </a:prstGeom>
          <a:solidFill>
            <a:srgbClr val="00A99D"/>
          </a:solidFill>
          <a:ln w="12700">
            <a:solidFill>
              <a:srgbClr val="00A9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138160" y="1444752"/>
            <a:ext cx="59436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A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8138160" y="1956816"/>
            <a:ext cx="3255264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Ecosystem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138160" y="2377440"/>
            <a:ext cx="3346704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Fleetfolio + Opsfolio Suite + Qualityfolio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474720"/>
            <a:ext cx="3575304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3575304" cy="109728"/>
          </a:xfrm>
          <a:prstGeom prst="rect">
            <a:avLst/>
          </a:prstGeom>
          <a:solidFill>
            <a:srgbClr val="0A2240"/>
          </a:solidFill>
          <a:ln w="12700">
            <a:solidFill>
              <a:srgbClr val="0A22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21792" y="3639312"/>
            <a:ext cx="59436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21792" y="4151376"/>
            <a:ext cx="3255264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Tour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21792" y="4572000"/>
            <a:ext cx="3346704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Detection, posture, reconciliation, TEM, cloud costs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15384" y="3474720"/>
            <a:ext cx="3575304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215384" y="3474720"/>
            <a:ext cx="3575304" cy="109728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379976" y="3639312"/>
            <a:ext cx="59436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4379976" y="4151376"/>
            <a:ext cx="3255264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Evidence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379976" y="4572000"/>
            <a:ext cx="3346704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detection is a query. Every query is evidence.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973568" y="3474720"/>
            <a:ext cx="3575304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973568" y="3474720"/>
            <a:ext cx="3575304" cy="1097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138160" y="3639312"/>
            <a:ext cx="59436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8138160" y="4151376"/>
            <a:ext cx="3255264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&amp; Close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138160" y="4572000"/>
            <a:ext cx="3346704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Integration, deployment models, and next steps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65760" y="6565392"/>
            <a:ext cx="11457432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fleetfolio.dev  ·  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Insecurity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organizations pass their annual audit — and still get breached.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5324003" cy="4617720"/>
          </a:xfrm>
          <a:prstGeom prst="rect">
            <a:avLst/>
          </a:prstGeom>
          <a:solidFill>
            <a:srgbClr val="0D2A3C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5324003" cy="91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901952"/>
            <a:ext cx="5003963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Happens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" y="2377440"/>
            <a:ext cx="54864" cy="7315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04672" y="2404872"/>
            <a:ext cx="4821083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Decay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" y="2688336"/>
            <a:ext cx="4821083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and exports are stale the moment they're captured. Auditors sample a past state.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" y="3401568"/>
            <a:ext cx="54864" cy="7315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04672" y="3429000"/>
            <a:ext cx="4821083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Audit-Time Heroics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4672" y="3712464"/>
            <a:ext cx="4821083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scramble to assemble evidence when the auditor arrives. Controls exist on paper only.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792" y="4425696"/>
            <a:ext cx="54864" cy="7315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04672" y="4453128"/>
            <a:ext cx="4821083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Policy-Reality Gap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4672" y="4736592"/>
            <a:ext cx="4821083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controls don't reflect operational enforcement. No one knows what's actually running.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1792" y="5449824"/>
            <a:ext cx="54864" cy="7315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04672" y="5477256"/>
            <a:ext cx="4821083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Fragmentation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" y="5760720"/>
            <a:ext cx="4821083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osquery, MDM, CMDB, monitoring — each a silo. None speaks compliance. AI can't JOIN them.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64083" y="1737360"/>
            <a:ext cx="5859109" cy="4617720"/>
          </a:xfrm>
          <a:prstGeom prst="rect">
            <a:avLst/>
          </a:prstGeom>
          <a:solidFill>
            <a:srgbClr val="0D2A3C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964083" y="1737360"/>
            <a:ext cx="5859109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146963" y="1901952"/>
            <a:ext cx="5539069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146963" y="2423160"/>
            <a:ext cx="5539069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Audit-ready.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6146963" y="2907792"/>
            <a:ext cx="5539069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Breach-prone.</a:t>
            </a:r>
            <a:endParaRPr lang="en-US" sz="2800" dirty="0"/>
          </a:p>
        </p:txBody>
      </p:sp>
      <p:sp>
        <p:nvSpPr>
          <p:cNvPr id="26" name="Shape 24"/>
          <p:cNvSpPr/>
          <p:nvPr/>
        </p:nvSpPr>
        <p:spPr>
          <a:xfrm>
            <a:off x="6146963" y="3520440"/>
            <a:ext cx="5493349" cy="0"/>
          </a:xfrm>
          <a:prstGeom prst="line">
            <a:avLst/>
          </a:prstGeom>
          <a:noFill/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146963" y="3657600"/>
            <a:ext cx="5539069" cy="1828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are documented but not continuously verified. Detection tools fire alerts that vanish. Evidence is assembled, not generated. The gap between the audit and the breach grows invisible.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5760" y="6565392"/>
            <a:ext cx="11457432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fleetfolio.dev  ·  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APPROACH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SQL-Native EDR: A Different Architecture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11274552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EDR detects threats. Fleetfolio detects threats AND proves what happened.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664208"/>
            <a:ext cx="5454396" cy="469087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5454396" cy="91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51800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EDR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322576"/>
            <a:ext cx="5088636" cy="386791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fire — then vanish into a SIEM queue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is a screenshot or export, assembled later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rules are proprietary, opaque, untestable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reports generated manually from alert data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native understanding of audit requirements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detection is ephemeral — no audit chain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can't query alerts that live in a proprietary log format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4476" y="1664208"/>
            <a:ext cx="5454396" cy="4690872"/>
          </a:xfrm>
          <a:prstGeom prst="rect">
            <a:avLst/>
          </a:prstGeom>
          <a:solidFill>
            <a:srgbClr val="0A2240"/>
          </a:solidFill>
          <a:ln w="12700">
            <a:solidFill>
              <a:srgbClr val="0A224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094476" y="1664208"/>
            <a:ext cx="5454396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277356" y="1828800"/>
            <a:ext cx="51800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Fleetfolio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277356" y="2322576"/>
            <a:ext cx="5088636" cy="386791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B0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detection rule is a SQL query — version-controlled, testable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B0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alert is a timestamped, immutable evidence artifact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B0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= evidence: one query serves SOC 2 AND security ops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B0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mapping built into every rule at authoring time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B0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packages generated by querying evidence, not assembling PDFs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B0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chain: who, when, before/after, cryptographic hash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B0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can SELECT from device_posture, device_inventory right now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65760" y="6565392"/>
            <a:ext cx="11457432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fleetfolio.dev/compare  ·  Full comparison: CrowdStrike, SentinelOne, Carbon Black, FleetDM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Fleetfolio in the Opsfolio Ecosystem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11274552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telemetry flows directly into Opsfolio Suite's Evidence Warehouse and Asset Intelligence.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664208"/>
            <a:ext cx="3840480" cy="4206240"/>
          </a:xfrm>
          <a:prstGeom prst="rect">
            <a:avLst/>
          </a:prstGeom>
          <a:solidFill>
            <a:srgbClr val="0A2240"/>
          </a:solidFill>
          <a:ln w="12700">
            <a:solidFill>
              <a:srgbClr val="0A224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3840480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847088"/>
            <a:ext cx="347472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Fleetfolio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22860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SQL-Native EDR + Fleet Management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2670048"/>
            <a:ext cx="3520440" cy="24688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posture: encryption, firewall, patches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reconciliation: MATCHED / MISSING / UNEXPECTED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findings from Nessus, Trivy, OpenVAS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resource inventory (AWS, Azure, GCP)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 test findings via Threat Exposure Management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device telemetry via SNMP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3767328"/>
            <a:ext cx="320040" cy="0"/>
          </a:xfrm>
          <a:prstGeom prst="line">
            <a:avLst/>
          </a:prstGeom>
          <a:noFill/>
          <a:ln w="31750">
            <a:solidFill>
              <a:srgbClr val="0891B2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617720" y="1664208"/>
            <a:ext cx="41148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17720" y="1664208"/>
            <a:ext cx="4114800" cy="109728"/>
          </a:xfrm>
          <a:prstGeom prst="rect">
            <a:avLst/>
          </a:prstGeom>
          <a:solidFill>
            <a:srgbClr val="00A99D"/>
          </a:solidFill>
          <a:ln w="12700">
            <a:solidFill>
              <a:srgbClr val="00A9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00600" y="1847088"/>
            <a:ext cx="374904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Opsfolio Suite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800600" y="2286000"/>
            <a:ext cx="3749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00A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GRC Engineering Platform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800600" y="2688336"/>
            <a:ext cx="3749040" cy="530352"/>
          </a:xfrm>
          <a:prstGeom prst="rect">
            <a:avLst/>
          </a:prstGeom>
          <a:solidFill>
            <a:srgbClr val="F0F6FA"/>
          </a:solidFill>
          <a:ln w="12700">
            <a:solidFill>
              <a:srgbClr val="D0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910328" y="2724912"/>
            <a:ext cx="356616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Intelligence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10328" y="2953512"/>
            <a:ext cx="35661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fleet posture feeds directly into asset inventory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800600" y="3310128"/>
            <a:ext cx="3749040" cy="530352"/>
          </a:xfrm>
          <a:prstGeom prst="rect">
            <a:avLst/>
          </a:prstGeom>
          <a:solidFill>
            <a:srgbClr val="F0F6FA"/>
          </a:solidFill>
          <a:ln w="12700">
            <a:solidFill>
              <a:srgbClr val="D0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10328" y="3346704"/>
            <a:ext cx="356616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Warehouse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10328" y="3575304"/>
            <a:ext cx="35661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telemetry becomes compliance evidence, auto-mapped to controls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800600" y="3931920"/>
            <a:ext cx="3749040" cy="530352"/>
          </a:xfrm>
          <a:prstGeom prst="rect">
            <a:avLst/>
          </a:prstGeom>
          <a:solidFill>
            <a:srgbClr val="F0F6FA"/>
          </a:solidFill>
          <a:ln w="12700">
            <a:solidFill>
              <a:srgbClr val="D0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910328" y="3968496"/>
            <a:ext cx="356616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Center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10328" y="4197096"/>
            <a:ext cx="35661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Fleetfolio evidence populates SOC 2, CMMC, FedRAMP audit packages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00600" y="4553712"/>
            <a:ext cx="3749040" cy="530352"/>
          </a:xfrm>
          <a:prstGeom prst="rect">
            <a:avLst/>
          </a:prstGeom>
          <a:solidFill>
            <a:srgbClr val="F0F6FA"/>
          </a:solidFill>
          <a:ln w="12700">
            <a:solidFill>
              <a:srgbClr val="D0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910328" y="4590288"/>
            <a:ext cx="356616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Management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10328" y="4818888"/>
            <a:ext cx="35661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findings flow into the threat and incident modules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00600" y="5175504"/>
            <a:ext cx="3749040" cy="530352"/>
          </a:xfrm>
          <a:prstGeom prst="rect">
            <a:avLst/>
          </a:prstGeom>
          <a:solidFill>
            <a:srgbClr val="F0F6FA"/>
          </a:solidFill>
          <a:ln w="12700">
            <a:solidFill>
              <a:srgbClr val="D0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910328" y="5212080"/>
            <a:ext cx="356616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Library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10328" y="5440680"/>
            <a:ext cx="35661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posture checks map to executable control predicates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961120" y="1664208"/>
            <a:ext cx="2862072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8D8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8961120" y="1664208"/>
            <a:ext cx="2862072" cy="1097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098280" y="1847088"/>
            <a:ext cx="260604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Qualityfolio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098280" y="2286000"/>
            <a:ext cx="26060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Management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Code (TMaC)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098280" y="2871216"/>
            <a:ext cx="2633472" cy="25603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Git-versioned test artifacts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SQL evidence (surveilr)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Quality Intelligence in Opsfolio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SOC 2, HIPAA, FDA 21 CFR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098280" y="5413248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qualityfolio.dev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65760" y="6565392"/>
            <a:ext cx="11457432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fleetfolio.dev  ·  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1274552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vs. Observed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74552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asset has what you think exists — and what agents actually find. Fleetfolio reconciles them continuously.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719072"/>
            <a:ext cx="3654552" cy="3200400"/>
          </a:xfrm>
          <a:prstGeom prst="rect">
            <a:avLst/>
          </a:prstGeom>
          <a:solidFill>
            <a:srgbClr val="0D2A3C"/>
          </a:solidFill>
          <a:ln w="12700">
            <a:solidFill>
              <a:srgbClr val="1A40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719072"/>
            <a:ext cx="3654552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883664"/>
            <a:ext cx="3361944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Assets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304288"/>
            <a:ext cx="3361944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Design-Time Intent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2633472"/>
            <a:ext cx="3380232" cy="1737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your organization believes should exist. Defined in the asset registry: servers, workstations, cloud instances, network devices.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443984"/>
            <a:ext cx="3316224" cy="347472"/>
          </a:xfrm>
          <a:prstGeom prst="rect">
            <a:avLst/>
          </a:prstGeom>
          <a:solidFill>
            <a:srgbClr val="1A4060"/>
          </a:solidFill>
          <a:ln w="12700">
            <a:solidFill>
              <a:srgbClr val="254D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4443984"/>
            <a:ext cx="3316224" cy="347472"/>
          </a:xfrm>
          <a:prstGeom prst="rect">
            <a:avLst/>
          </a:prstGeom>
          <a:noFill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0A4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CMDB / asset registry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184904" y="1719072"/>
            <a:ext cx="3654552" cy="3200400"/>
          </a:xfrm>
          <a:prstGeom prst="rect">
            <a:avLst/>
          </a:prstGeom>
          <a:solidFill>
            <a:srgbClr val="0D2A3C"/>
          </a:solidFill>
          <a:ln w="12700">
            <a:solidFill>
              <a:srgbClr val="1A40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84904" y="1719072"/>
            <a:ext cx="3654552" cy="91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367784" y="1883664"/>
            <a:ext cx="3361944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Assets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367784" y="2304288"/>
            <a:ext cx="3361944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Reality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367784" y="2633472"/>
            <a:ext cx="3380232" cy="1737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agents actually discover on the network right now. Continuous check-ins via osquery, SNMP, cloud APIs — timestamped, immutable.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67784" y="4443984"/>
            <a:ext cx="3316224" cy="347472"/>
          </a:xfrm>
          <a:prstGeom prst="rect">
            <a:avLst/>
          </a:prstGeom>
          <a:solidFill>
            <a:srgbClr val="1A4060"/>
          </a:solidFill>
          <a:ln w="12700">
            <a:solidFill>
              <a:srgbClr val="254D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367784" y="4443984"/>
            <a:ext cx="3316224" cy="347472"/>
          </a:xfrm>
          <a:prstGeom prst="rect">
            <a:avLst/>
          </a:prstGeom>
          <a:noFill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0A4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surveilr evidence store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912608" y="1719072"/>
            <a:ext cx="3654552" cy="3200400"/>
          </a:xfrm>
          <a:prstGeom prst="rect">
            <a:avLst/>
          </a:prstGeom>
          <a:solidFill>
            <a:srgbClr val="0D2A3C"/>
          </a:solidFill>
          <a:ln w="12700">
            <a:solidFill>
              <a:srgbClr val="1A40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912608" y="1719072"/>
            <a:ext cx="3654552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095488" y="1883664"/>
            <a:ext cx="3361944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95488" y="2304288"/>
            <a:ext cx="3361944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Truth™ via SQL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95488" y="2633472"/>
            <a:ext cx="3380232" cy="1737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OUTER JOIN produces four states: MATCHED (governance working) · MISSING (reliability or security failure) · UNEXPECTED (shadow IT or compromise) · RELOCATED (location drift).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95488" y="4443984"/>
            <a:ext cx="3316224" cy="347472"/>
          </a:xfrm>
          <a:prstGeom prst="rect">
            <a:avLst/>
          </a:prstGeom>
          <a:solidFill>
            <a:srgbClr val="1A4060"/>
          </a:solidFill>
          <a:ln w="12700">
            <a:solidFill>
              <a:srgbClr val="254D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095488" y="4443984"/>
            <a:ext cx="3316224" cy="347472"/>
          </a:xfrm>
          <a:prstGeom prst="rect">
            <a:avLst/>
          </a:prstGeom>
          <a:noFill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0A4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hostname, status FROM asset_comparison_report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11752" y="3319272"/>
            <a:ext cx="73152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7876032" y="3319272"/>
            <a:ext cx="73152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57200" y="5084064"/>
            <a:ext cx="11274552" cy="530352"/>
          </a:xfrm>
          <a:prstGeom prst="rect">
            <a:avLst/>
          </a:prstGeom>
          <a:solidFill>
            <a:srgbClr val="0D2A3C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57200" y="5084064"/>
            <a:ext cx="109728" cy="5303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94944" y="5138928"/>
            <a:ext cx="1100023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Opsfolio Suite: every MATCHED asset feeds Asset Intelligence in real time. Every UNEXPECTED asset triggers a gap signal in the Operational Truth™ invariant.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65760" y="6565392"/>
            <a:ext cx="11457432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fleetfolio.dev  ·  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A2240"/>
          </a:solidFill>
          <a:ln w="12700">
            <a:solidFill>
              <a:srgbClr val="0A22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3566160" cy="7315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Detection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Response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1325880"/>
            <a:ext cx="35661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detection rule is SQL. Every alert is evidence.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737360"/>
            <a:ext cx="3611880" cy="44805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B0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SQL-native detection: rules are version-controlled queries, not opaque signatures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B0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drift detection: disk encryption, firewall, patch level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B0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Unauthorized local admin detection via SQL query against local_admins table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B0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Vulnerable software: CVE correlation against installed package versions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B0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evidence collection with full provenance: who, when, before/after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28600" y="5760720"/>
            <a:ext cx="1109472" cy="777240"/>
          </a:xfrm>
          <a:prstGeom prst="rect">
            <a:avLst/>
          </a:prstGeom>
          <a:solidFill>
            <a:srgbClr val="0C2B42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28600" y="5806440"/>
            <a:ext cx="1109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83464" y="6163056"/>
            <a:ext cx="99974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Engine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447800" y="5760720"/>
            <a:ext cx="1109472" cy="777240"/>
          </a:xfrm>
          <a:prstGeom prst="rect">
            <a:avLst/>
          </a:prstGeom>
          <a:solidFill>
            <a:srgbClr val="0C2B42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447800" y="5806440"/>
            <a:ext cx="1109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502664" y="6163056"/>
            <a:ext cx="99974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Chain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667000" y="5760720"/>
            <a:ext cx="1109472" cy="777240"/>
          </a:xfrm>
          <a:prstGeom prst="rect">
            <a:avLst/>
          </a:prstGeom>
          <a:solidFill>
            <a:srgbClr val="0C2B42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667000" y="5806440"/>
            <a:ext cx="1109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721864" y="6163056"/>
            <a:ext cx="99974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→ Evidence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97680" y="502920"/>
            <a:ext cx="7571232" cy="347472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402836" y="617220"/>
            <a:ext cx="118872" cy="11887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567428" y="617220"/>
            <a:ext cx="118872" cy="11887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32020" y="617220"/>
            <a:ext cx="118872" cy="11887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974336" y="566928"/>
            <a:ext cx="6748272" cy="219456"/>
          </a:xfrm>
          <a:prstGeom prst="rect">
            <a:avLst/>
          </a:prstGeom>
          <a:solidFill>
            <a:srgbClr val="263748"/>
          </a:solidFill>
          <a:ln w="12700">
            <a:solidFill>
              <a:srgbClr val="384F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47488" y="566928"/>
            <a:ext cx="6656832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sz="800" dirty="0" err="1">
                <a:solidFill>
                  <a:srgbClr val="90A4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fleetfolio.dev</a:t>
            </a:r>
            <a:r>
              <a:rPr lang="en-US" sz="800" dirty="0">
                <a:solidFill>
                  <a:srgbClr val="90A4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/product/detection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65760" y="6565392"/>
            <a:ext cx="11457432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fleetfolio.dev  ·  Confidential</a:t>
            </a:r>
            <a:endParaRPr lang="en-US" sz="8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290CA5B4-CE15-FE7E-4D4A-37B6770B32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324350" y="943025"/>
            <a:ext cx="7544561" cy="559547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3566160" cy="7315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Asset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325880"/>
            <a:ext cx="35661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fresh within minutes. Shadow IT detected automatically.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3611880" cy="44805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Agent-based and agentless: SNMP, SSH, WMI, cloud APIs — all devices, all surfaces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check-ins with last_seen timestamps — no quarterly exports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OUTER JOIN reconciliation: MATCHED / MISSING / UNEXPECTED / RELOCATED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IT: unknown devices detected and flagged as unauthorized attack surface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assignment, tagging, criticality, boundary mapping — all queryable in SQL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28600" y="5760720"/>
            <a:ext cx="1109472" cy="777240"/>
          </a:xfrm>
          <a:prstGeom prst="rect">
            <a:avLst/>
          </a:prstGeom>
          <a:solidFill>
            <a:srgbClr val="E0F2FE"/>
          </a:solidFill>
          <a:ln w="12700">
            <a:solidFill>
              <a:srgbClr val="A0D4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28600" y="5806440"/>
            <a:ext cx="1109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83464" y="6163056"/>
            <a:ext cx="99974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State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447800" y="5760720"/>
            <a:ext cx="1109472" cy="777240"/>
          </a:xfrm>
          <a:prstGeom prst="rect">
            <a:avLst/>
          </a:prstGeom>
          <a:solidFill>
            <a:srgbClr val="E0F2FE"/>
          </a:solidFill>
          <a:ln w="12700">
            <a:solidFill>
              <a:srgbClr val="A0D4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447800" y="5806440"/>
            <a:ext cx="1109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502664" y="6163056"/>
            <a:ext cx="99974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Recon. States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67000" y="5760720"/>
            <a:ext cx="1109472" cy="777240"/>
          </a:xfrm>
          <a:prstGeom prst="rect">
            <a:avLst/>
          </a:prstGeom>
          <a:solidFill>
            <a:srgbClr val="E0F2FE"/>
          </a:solidFill>
          <a:ln w="12700">
            <a:solidFill>
              <a:srgbClr val="A0D4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667000" y="5806440"/>
            <a:ext cx="1109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721864" y="6163056"/>
            <a:ext cx="99974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JOIN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97680" y="502920"/>
            <a:ext cx="7571232" cy="347472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402836" y="617220"/>
            <a:ext cx="118872" cy="11887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67428" y="617220"/>
            <a:ext cx="118872" cy="11887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32020" y="617220"/>
            <a:ext cx="118872" cy="11887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974336" y="566928"/>
            <a:ext cx="6748272" cy="219456"/>
          </a:xfrm>
          <a:prstGeom prst="rect">
            <a:avLst/>
          </a:prstGeom>
          <a:solidFill>
            <a:srgbClr val="263748"/>
          </a:solidFill>
          <a:ln w="12700">
            <a:solidFill>
              <a:srgbClr val="384F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47488" y="566928"/>
            <a:ext cx="6656832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sz="800">
                <a:solidFill>
                  <a:srgbClr val="90A4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fleetfolio.dev/product/asset-reconciliation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5760" y="6565392"/>
            <a:ext cx="11457432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fleetfolio.dev  ·  Confidential</a:t>
            </a:r>
            <a:endParaRPr lang="en-US" sz="800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CE11455E-80B9-72F6-4C74-3F1DF3DB08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322155" y="937044"/>
            <a:ext cx="7516367" cy="557456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A2240"/>
          </a:solidFill>
          <a:ln w="12700">
            <a:solidFill>
              <a:srgbClr val="0A22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3566160" cy="7315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Posture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Config Management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1325880"/>
            <a:ext cx="35661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Policy-as-SQL: version-controlled, testable, drift-detecting.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737360"/>
            <a:ext cx="3611880" cy="44805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B0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encryption, firewall status, OS version, patch level — all boolean SQL fields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B0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detection: devices that were compliant and are now not — with timestamps and audit trail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B0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evidence snapshots for every posture change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B0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control mapping built into each policy query (ISO 27001, SOC 2, NIST)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B0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on regression: when a device drops below baseline, a gap signal is immediately asserted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28600" y="5760720"/>
            <a:ext cx="1109472" cy="777240"/>
          </a:xfrm>
          <a:prstGeom prst="rect">
            <a:avLst/>
          </a:prstGeom>
          <a:solidFill>
            <a:srgbClr val="0C2B42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28600" y="5806440"/>
            <a:ext cx="1109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83464" y="6163056"/>
            <a:ext cx="99974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Auto-Detected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447800" y="5760720"/>
            <a:ext cx="1109472" cy="777240"/>
          </a:xfrm>
          <a:prstGeom prst="rect">
            <a:avLst/>
          </a:prstGeom>
          <a:solidFill>
            <a:srgbClr val="0C2B42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447800" y="5806440"/>
            <a:ext cx="1109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502664" y="6163056"/>
            <a:ext cx="99974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State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667000" y="5760720"/>
            <a:ext cx="1109472" cy="777240"/>
          </a:xfrm>
          <a:prstGeom prst="rect">
            <a:avLst/>
          </a:prstGeom>
          <a:solidFill>
            <a:srgbClr val="0C2B42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667000" y="5806440"/>
            <a:ext cx="1109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721864" y="6163056"/>
            <a:ext cx="99974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Baseline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97680" y="502920"/>
            <a:ext cx="7571232" cy="347472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402836" y="617220"/>
            <a:ext cx="118872" cy="11887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567428" y="617220"/>
            <a:ext cx="118872" cy="11887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32020" y="617220"/>
            <a:ext cx="118872" cy="11887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974336" y="566928"/>
            <a:ext cx="6748272" cy="219456"/>
          </a:xfrm>
          <a:prstGeom prst="rect">
            <a:avLst/>
          </a:prstGeom>
          <a:solidFill>
            <a:srgbClr val="263748"/>
          </a:solidFill>
          <a:ln w="12700">
            <a:solidFill>
              <a:srgbClr val="384F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47488" y="566928"/>
            <a:ext cx="6656832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sz="800" dirty="0" err="1">
                <a:solidFill>
                  <a:srgbClr val="90A4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fleetfolio.dev</a:t>
            </a:r>
            <a:r>
              <a:rPr lang="en-US" sz="800" dirty="0">
                <a:solidFill>
                  <a:srgbClr val="90A4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/product/posture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65760" y="6565392"/>
            <a:ext cx="11457432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fleetfolio.dev  ·  Confidential</a:t>
            </a:r>
            <a:endParaRPr lang="en-US" sz="8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C5D4D05C-454E-8E79-E14D-FA2C5844E3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324575" y="957145"/>
            <a:ext cx="7498615" cy="55613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3566160" cy="7315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Exposure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325880"/>
            <a:ext cx="35661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 test findings structured as evidence, not PDFs.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3611880" cy="44805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Nessus, Trivy, OpenVAS, and manual pentest output — normalized to SQL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TEM dashboard: live findings, not stale reports. No more waiting for PDFs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CVSS/EPSS-based prioritization — focus remediation on actual risk, not noise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tracking: Open → In Progress → Remediated → Validated → Closed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Auto-generates POA&amp;M items mapped to SOC 2, ISO, CMMC, HIPAA, FedRAMP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28600" y="5760720"/>
            <a:ext cx="1109472" cy="777240"/>
          </a:xfrm>
          <a:prstGeom prst="rect">
            <a:avLst/>
          </a:prstGeom>
          <a:solidFill>
            <a:srgbClr val="E0F2FE"/>
          </a:solidFill>
          <a:ln w="12700">
            <a:solidFill>
              <a:srgbClr val="A0D4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28600" y="5806440"/>
            <a:ext cx="1109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83464" y="6163056"/>
            <a:ext cx="99974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POA&amp;M Generation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447800" y="5760720"/>
            <a:ext cx="1109472" cy="777240"/>
          </a:xfrm>
          <a:prstGeom prst="rect">
            <a:avLst/>
          </a:prstGeom>
          <a:solidFill>
            <a:srgbClr val="E0F2FE"/>
          </a:solidFill>
          <a:ln w="12700">
            <a:solidFill>
              <a:srgbClr val="A0D4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447800" y="5806440"/>
            <a:ext cx="1109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502664" y="6163056"/>
            <a:ext cx="99974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Dashboard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67000" y="5760720"/>
            <a:ext cx="1109472" cy="777240"/>
          </a:xfrm>
          <a:prstGeom prst="rect">
            <a:avLst/>
          </a:prstGeom>
          <a:solidFill>
            <a:srgbClr val="E0F2FE"/>
          </a:solidFill>
          <a:ln w="12700">
            <a:solidFill>
              <a:srgbClr val="A0D4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667000" y="5806440"/>
            <a:ext cx="1109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5-Stage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721864" y="6163056"/>
            <a:ext cx="99974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Flow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97680" y="502920"/>
            <a:ext cx="7571232" cy="347472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402836" y="617220"/>
            <a:ext cx="118872" cy="11887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67428" y="617220"/>
            <a:ext cx="118872" cy="11887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32020" y="617220"/>
            <a:ext cx="118872" cy="11887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974336" y="566928"/>
            <a:ext cx="6748272" cy="219456"/>
          </a:xfrm>
          <a:prstGeom prst="rect">
            <a:avLst/>
          </a:prstGeom>
          <a:solidFill>
            <a:srgbClr val="263748"/>
          </a:solidFill>
          <a:ln w="12700">
            <a:solidFill>
              <a:srgbClr val="384F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47488" y="566928"/>
            <a:ext cx="6656832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sz="800" dirty="0" err="1">
                <a:solidFill>
                  <a:srgbClr val="90A4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fleetfolio.dev</a:t>
            </a:r>
            <a:r>
              <a:rPr lang="en-US" sz="800" dirty="0">
                <a:solidFill>
                  <a:srgbClr val="90A4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/product/</a:t>
            </a:r>
            <a:r>
              <a:rPr lang="en-US" sz="800" dirty="0" err="1">
                <a:solidFill>
                  <a:srgbClr val="90A4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</a:t>
            </a:r>
            <a:endParaRPr lang="en-US" sz="800" dirty="0">
              <a:solidFill>
                <a:srgbClr val="90A4AE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5760" y="6565392"/>
            <a:ext cx="11457432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fleetfolio.dev  ·  Confidential</a:t>
            </a:r>
            <a:endParaRPr lang="en-US" sz="8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3454621E-2064-A434-2124-1610648C9B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320114" y="957972"/>
            <a:ext cx="7533115" cy="558698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A2240"/>
          </a:solidFill>
          <a:ln w="12700">
            <a:solidFill>
              <a:srgbClr val="0A22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3566160" cy="7315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1325880"/>
            <a:ext cx="35661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is a governance gap. Fleetfolio proves it with dollar amounts.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737360"/>
            <a:ext cx="3611880" cy="44805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B0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AWS, Azure, GCP — orphaned resources, oversized instances, idle services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B0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every waste category to a governance gap and compliance control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B0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quantified: monthly and annual projections, per resource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B0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cost waste to configuration drift — governance failures cost money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B0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Three-command setup: set credentials, run surveilr ingest, query savings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28600" y="5760720"/>
            <a:ext cx="1109472" cy="777240"/>
          </a:xfrm>
          <a:prstGeom prst="rect">
            <a:avLst/>
          </a:prstGeom>
          <a:solidFill>
            <a:srgbClr val="0C2B42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28600" y="5806440"/>
            <a:ext cx="1109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83464" y="6163056"/>
            <a:ext cx="99974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Providers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447800" y="5760720"/>
            <a:ext cx="1109472" cy="777240"/>
          </a:xfrm>
          <a:prstGeom prst="rect">
            <a:avLst/>
          </a:prstGeom>
          <a:solidFill>
            <a:srgbClr val="0C2B42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447800" y="5806440"/>
            <a:ext cx="1109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502664" y="6163056"/>
            <a:ext cx="99974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Query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667000" y="5760720"/>
            <a:ext cx="1109472" cy="777240"/>
          </a:xfrm>
          <a:prstGeom prst="rect">
            <a:avLst/>
          </a:prstGeom>
          <a:solidFill>
            <a:srgbClr val="0C2B42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667000" y="5806440"/>
            <a:ext cx="1109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$$$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721864" y="6163056"/>
            <a:ext cx="99974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Waste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97680" y="502920"/>
            <a:ext cx="7571232" cy="347472"/>
          </a:xfrm>
          <a:prstGeom prst="rect">
            <a:avLst/>
          </a:prstGeom>
          <a:solidFill>
            <a:srgbClr val="1E2D3D"/>
          </a:solidFill>
          <a:ln w="12700">
            <a:solidFill>
              <a:srgbClr val="1E2D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402836" y="617220"/>
            <a:ext cx="118872" cy="11887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567428" y="617220"/>
            <a:ext cx="118872" cy="11887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32020" y="617220"/>
            <a:ext cx="118872" cy="11887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974336" y="566928"/>
            <a:ext cx="6748272" cy="219456"/>
          </a:xfrm>
          <a:prstGeom prst="rect">
            <a:avLst/>
          </a:prstGeom>
          <a:solidFill>
            <a:srgbClr val="263748"/>
          </a:solidFill>
          <a:ln w="12700">
            <a:solidFill>
              <a:srgbClr val="384F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47488" y="566928"/>
            <a:ext cx="6656832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sz="800" dirty="0" err="1">
                <a:solidFill>
                  <a:srgbClr val="90A4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fleetfolio.dev</a:t>
            </a:r>
            <a:r>
              <a:rPr lang="en-US" sz="800" dirty="0">
                <a:solidFill>
                  <a:srgbClr val="90A4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/product/cloud-costs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65760" y="6565392"/>
            <a:ext cx="11457432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fleetfolio.dev  ·  Confidential</a:t>
            </a:r>
            <a:endParaRPr lang="en-US" sz="8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C73BB0E4-FA98-3ABB-2720-3EA59ED709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320124" y="962451"/>
            <a:ext cx="7517643" cy="557550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EVIDENCE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1274552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Detection Is a Query.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Query Is Evidence.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74552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SQL — testable, version-controllable, audit-defensible.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3672840" cy="4434840"/>
          </a:xfrm>
          <a:prstGeom prst="rect">
            <a:avLst/>
          </a:prstGeom>
          <a:solidFill>
            <a:srgbClr val="0A1F30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367284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2066544"/>
            <a:ext cx="340766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Posture: Detect unencrypted laptops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505456"/>
            <a:ext cx="3453384" cy="3282696"/>
          </a:xfrm>
          <a:prstGeom prst="rect">
            <a:avLst/>
          </a:prstGeom>
          <a:solidFill>
            <a:srgbClr val="060F18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" y="2560320"/>
            <a:ext cx="3343656" cy="31729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hostname, disk_encrypted, last_checked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device_posture dp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device_inventory di ON dp.device_id = di.device_id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di.device_type = 'laptop' AND disk_encrypted = FALSE;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5879592"/>
            <a:ext cx="3453384" cy="347472"/>
          </a:xfrm>
          <a:prstGeom prst="rect">
            <a:avLst/>
          </a:prstGeom>
          <a:solidFill>
            <a:srgbClr val="1A4060"/>
          </a:solidFill>
          <a:ln w="12700">
            <a:solidFill>
              <a:srgbClr val="254D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21792" y="5879592"/>
            <a:ext cx="336194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to: SOC 2 CC6.1 · ISO A.10.1 · NIST SC-28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184904" y="1920240"/>
            <a:ext cx="3672840" cy="4434840"/>
          </a:xfrm>
          <a:prstGeom prst="rect">
            <a:avLst/>
          </a:prstGeom>
          <a:solidFill>
            <a:srgbClr val="0A1F30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84904" y="1920240"/>
            <a:ext cx="367284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322064" y="2066544"/>
            <a:ext cx="340766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Drift: Encryption disabled since last check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94632" y="2505456"/>
            <a:ext cx="3453384" cy="3282696"/>
          </a:xfrm>
          <a:prstGeom prst="rect">
            <a:avLst/>
          </a:prstGeom>
          <a:solidFill>
            <a:srgbClr val="060F18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349496" y="2560320"/>
            <a:ext cx="3343656" cy="31729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hostname, changed_at, old_value AS was_encrypted,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new_value AS now_encrypted, evidence_before, evidence_after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device_posture_changes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field = 'disk_encrypted' AND old_value = TRUE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AND new_value = FALSE ORDER BY changed_at DESC;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294632" y="5879592"/>
            <a:ext cx="3453384" cy="347472"/>
          </a:xfrm>
          <a:prstGeom prst="rect">
            <a:avLst/>
          </a:prstGeom>
          <a:solidFill>
            <a:srgbClr val="1A4060"/>
          </a:solidFill>
          <a:ln w="12700">
            <a:solidFill>
              <a:srgbClr val="254D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349496" y="5879592"/>
            <a:ext cx="336194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 — who, when, before/after snapshots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912608" y="1920240"/>
            <a:ext cx="3672840" cy="4434840"/>
          </a:xfrm>
          <a:prstGeom prst="rect">
            <a:avLst/>
          </a:prstGeom>
          <a:solidFill>
            <a:srgbClr val="0A1F30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912608" y="1920240"/>
            <a:ext cx="367284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049768" y="2066544"/>
            <a:ext cx="340766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IT: Unknown devices on the network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022336" y="2505456"/>
            <a:ext cx="3453384" cy="3282696"/>
          </a:xfrm>
          <a:prstGeom prst="rect">
            <a:avLst/>
          </a:prstGeom>
          <a:solidFill>
            <a:srgbClr val="060F18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077200" y="2560320"/>
            <a:ext cx="3343656" cy="31729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o.host_identifier, o.ip_address, o.first_seen,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o.last_seen, o.operating_system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shadow_it_hosts 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o.first_seen &gt;= date('now', '-7 days')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o.first_seen DESC;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022336" y="5879592"/>
            <a:ext cx="3453384" cy="347472"/>
          </a:xfrm>
          <a:prstGeom prst="rect">
            <a:avLst/>
          </a:prstGeom>
          <a:solidFill>
            <a:srgbClr val="1A4060"/>
          </a:solidFill>
          <a:ln w="12700">
            <a:solidFill>
              <a:srgbClr val="254D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077200" y="5879592"/>
            <a:ext cx="336194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artifact: unauthorized attack surface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65760" y="6565392"/>
            <a:ext cx="11457432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queries run against surveilr — append-only SQLite. Same query = security ops + audit evidence.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Compliance Mapping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11274552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detection rule maps to a control. Audit packages are a SQL query, not a sprint.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3636264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91440" cy="7772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8368" y="1764792"/>
            <a:ext cx="338023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Type I &amp; II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2093976"/>
            <a:ext cx="33802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CC6.1, CC6.2, CC7.1, CC8.1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84904" y="1691640"/>
            <a:ext cx="3636264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184904" y="1691640"/>
            <a:ext cx="91440" cy="77724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386072" y="1764792"/>
            <a:ext cx="338023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FedRAMP Low/Mod/High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6072" y="2093976"/>
            <a:ext cx="33802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AC-2, CM-6, CM-7, SI-2, SC-28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12608" y="1691640"/>
            <a:ext cx="3636264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912608" y="1691640"/>
            <a:ext cx="91440" cy="7772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113776" y="1764792"/>
            <a:ext cx="338023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13776" y="2093976"/>
            <a:ext cx="33802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§164.312(a)(1), §164.312(c)(1)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606040"/>
            <a:ext cx="3636264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57200" y="2606040"/>
            <a:ext cx="91440" cy="777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8368" y="2679192"/>
            <a:ext cx="338023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800-53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" y="3008376"/>
            <a:ext cx="33802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AC-2, CM-8, SI-3, SI-7, RA-5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84904" y="2606040"/>
            <a:ext cx="3636264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184904" y="2606040"/>
            <a:ext cx="91440" cy="777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386072" y="2679192"/>
            <a:ext cx="338023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CMMC Level 2+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386072" y="3008376"/>
            <a:ext cx="33802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AC.1.001, CM.2.061, SI.1.210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12608" y="2606040"/>
            <a:ext cx="3636264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912608" y="2606040"/>
            <a:ext cx="91440" cy="77724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113776" y="2679192"/>
            <a:ext cx="338023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27001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113776" y="3008376"/>
            <a:ext cx="33802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A.8.1, A.9.4, A.10.1, A.12.6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639312"/>
            <a:ext cx="11274552" cy="2377440"/>
          </a:xfrm>
          <a:prstGeom prst="rect">
            <a:avLst/>
          </a:prstGeom>
          <a:solidFill>
            <a:srgbClr val="F0F6FA"/>
          </a:solidFill>
          <a:ln w="12700">
            <a:solidFill>
              <a:srgbClr val="A0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57200" y="3639312"/>
            <a:ext cx="109728" cy="2377440"/>
          </a:xfrm>
          <a:prstGeom prst="rect">
            <a:avLst/>
          </a:prstGeom>
          <a:solidFill>
            <a:srgbClr val="00A99D"/>
          </a:solidFill>
          <a:ln w="12700">
            <a:solidFill>
              <a:srgbClr val="00A9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94944" y="3803904"/>
            <a:ext cx="1100023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Reaches Opsfolio Suite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94944" y="4242816"/>
            <a:ext cx="10954512" cy="1645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Fleetfolio posture checks and TEM findings are ingested into the Opsfolio Suite Evidence Warehouse automatically.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piece of evidence is tagged with framework controls at ingest time — SOC 2, CMMC, FedRAMP in one record.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Opsfolio Audit Center queries Fleetfolio evidence to populate audit packages on demand. No manual assembly.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gaps surface as Operational Truth™ gap signals — uninstrumented controls are never silently assumed compliant.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65760" y="6565392"/>
            <a:ext cx="11457432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fleetfolio.dev  ·  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by Design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11274552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never leaves your control. Deploy where your security policy requires.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719072"/>
            <a:ext cx="2740914" cy="4636008"/>
          </a:xfrm>
          <a:prstGeom prst="rect">
            <a:avLst/>
          </a:prstGeom>
          <a:solidFill>
            <a:srgbClr val="0D2A3C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719072"/>
            <a:ext cx="2740914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21792" y="1901952"/>
            <a:ext cx="749808" cy="25603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21792" y="1901952"/>
            <a:ext cx="749808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ONPREM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21792" y="2249424"/>
            <a:ext cx="2466594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On-Premises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Self-Hosted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21792" y="2852928"/>
            <a:ext cx="2466594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control. No internet required. surveilr runs on your own hardware. Data never leaves the building. Ideal for regulated environments.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1792" y="4352544"/>
            <a:ext cx="2484882" cy="1463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internet required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infrastructure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control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CMMC / FedRAMP compliant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52978" y="1719072"/>
            <a:ext cx="2740914" cy="4636008"/>
          </a:xfrm>
          <a:prstGeom prst="rect">
            <a:avLst/>
          </a:prstGeom>
          <a:solidFill>
            <a:srgbClr val="0D2A3C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52978" y="1719072"/>
            <a:ext cx="2740914" cy="9144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417570" y="1901952"/>
            <a:ext cx="749808" cy="256032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417570" y="1901952"/>
            <a:ext cx="749808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417570" y="2249424"/>
            <a:ext cx="2466594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Cloud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VPC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417570" y="2852928"/>
            <a:ext cx="2466594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in your AWS, Azure, or GCP private network. Cloud elasticity with your security controls intact.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17570" y="4352544"/>
            <a:ext cx="2484882" cy="1463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elasticity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isolation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cloud account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Multi-region capable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048756" y="1719072"/>
            <a:ext cx="2740914" cy="4636008"/>
          </a:xfrm>
          <a:prstGeom prst="rect">
            <a:avLst/>
          </a:prstGeom>
          <a:solidFill>
            <a:srgbClr val="0D2A3C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048756" y="1719072"/>
            <a:ext cx="2740914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213348" y="1901952"/>
            <a:ext cx="749808" cy="2560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213348" y="1901952"/>
            <a:ext cx="749808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AIRGAP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213348" y="2249424"/>
            <a:ext cx="2466594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Air-Gapped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Sovereign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213348" y="2852928"/>
            <a:ext cx="2466594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security for classified or restricted environments. Manual data transfer. Offline operation. Sync when connected.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213348" y="4352544"/>
            <a:ext cx="2484882" cy="1463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network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transfer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operation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when permitted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844534" y="1719072"/>
            <a:ext cx="2740914" cy="4636008"/>
          </a:xfrm>
          <a:prstGeom prst="rect">
            <a:avLst/>
          </a:prstGeom>
          <a:solidFill>
            <a:srgbClr val="0D2A3C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844534" y="1719072"/>
            <a:ext cx="2740914" cy="91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9009126" y="1901952"/>
            <a:ext cx="749808" cy="25603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009126" y="1901952"/>
            <a:ext cx="749808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9009126" y="2249424"/>
            <a:ext cx="2466594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Sites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9009126" y="2852928"/>
            <a:ext cx="2466594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agents at branch offices, factory floors, or remote sites. Local ingestion, synchronized to central surveilr on reconnect.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009126" y="4352544"/>
            <a:ext cx="2484882" cy="1463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agents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Intermittent connectivity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evidence store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8AA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aggregation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65760" y="6565392"/>
            <a:ext cx="11457432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SaaS option coming soon  ·  fleetfolio.dev/deployment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1554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A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Existing Tools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11274552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connectors land as normalized SQL tables in surveilr. One schema. All sources.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2181758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181758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1856232"/>
            <a:ext cx="196230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94360" y="2350008"/>
            <a:ext cx="1980590" cy="38404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osquery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cnquery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Steampipe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WMI (Windows)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 probes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693822" y="1691640"/>
            <a:ext cx="2181758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93822" y="1691640"/>
            <a:ext cx="2181758" cy="1097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830982" y="1856232"/>
            <a:ext cx="196230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830982" y="2350008"/>
            <a:ext cx="1980590" cy="38404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SNMP polling + traps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Syslog ingestion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feeds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switch APIs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930445" y="1691640"/>
            <a:ext cx="2181758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930445" y="1691640"/>
            <a:ext cx="2181758" cy="1097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67605" y="1856232"/>
            <a:ext cx="196230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067605" y="2350008"/>
            <a:ext cx="1980590" cy="38404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(CloudTrail, Config)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Logging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APIs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167067" y="1691640"/>
            <a:ext cx="2181758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167067" y="1691640"/>
            <a:ext cx="2181758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04227" y="1856232"/>
            <a:ext cx="196230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Vuln. Scanners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304227" y="2350008"/>
            <a:ext cx="1980590" cy="38404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OpenVAS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Pen-test output (JSON/XML/CSV)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403690" y="1691640"/>
            <a:ext cx="2181758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AF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403690" y="1691640"/>
            <a:ext cx="2181758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540850" y="1856232"/>
            <a:ext cx="196230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&amp; Ticketing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540850" y="2350008"/>
            <a:ext cx="1980590" cy="38404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(auto-ticket findings)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/ Teams alerts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OSCAL export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65760" y="6565392"/>
            <a:ext cx="11457432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integrations land in surveilr  ·  fleetfolio.dev/integrations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11365992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Guarantee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1365992" cy="1691640"/>
          </a:xfrm>
          <a:prstGeom prst="rect">
            <a:avLst/>
          </a:prstGeom>
          <a:solidFill>
            <a:srgbClr val="0D2A3C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225296"/>
            <a:ext cx="10863072" cy="1325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 guarantee your audit outcome. If you follow our process and don’t pass, we keep working — at our cost — until you do.”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502920" y="2999232"/>
            <a:ext cx="2722626" cy="1417320"/>
          </a:xfrm>
          <a:prstGeom prst="rect">
            <a:avLst/>
          </a:prstGeom>
          <a:solidFill>
            <a:srgbClr val="0D2A3C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3090672"/>
            <a:ext cx="2722626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76072" y="3712464"/>
            <a:ext cx="257632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Pass Rate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98698" y="2999232"/>
            <a:ext cx="2722626" cy="1417320"/>
          </a:xfrm>
          <a:prstGeom prst="rect">
            <a:avLst/>
          </a:prstGeom>
          <a:solidFill>
            <a:srgbClr val="0D2A3C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98698" y="3090672"/>
            <a:ext cx="2722626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371850" y="3712464"/>
            <a:ext cx="257632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Audit-Ready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94476" y="2999232"/>
            <a:ext cx="2722626" cy="1417320"/>
          </a:xfrm>
          <a:prstGeom prst="rect">
            <a:avLst/>
          </a:prstGeom>
          <a:solidFill>
            <a:srgbClr val="0D2A3C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094476" y="3090672"/>
            <a:ext cx="2722626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167628" y="3712464"/>
            <a:ext cx="257632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on Demand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890254" y="2999232"/>
            <a:ext cx="2722626" cy="1417320"/>
          </a:xfrm>
          <a:prstGeom prst="rect">
            <a:avLst/>
          </a:prstGeom>
          <a:solidFill>
            <a:srgbClr val="0D2A3C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890254" y="3090672"/>
            <a:ext cx="2722626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CaaS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8963406" y="3712464"/>
            <a:ext cx="257632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Model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4572000"/>
            <a:ext cx="11365992" cy="1719072"/>
          </a:xfrm>
          <a:prstGeom prst="rect">
            <a:avLst/>
          </a:prstGeom>
          <a:solidFill>
            <a:srgbClr val="0D2A3C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02920" y="4572000"/>
            <a:ext cx="109728" cy="171907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49808" y="4663440"/>
            <a:ext cx="110916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as a Service (CaaS) Delivery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49808" y="5047488"/>
            <a:ext cx="11045952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Netspective deploys Fleetfolio against your primary cloud provider, identity provider, and endpoints. Standard control templates cover 60–70% of SOC 2 technical surface from day one. We deliver compliance engineering capability — not just a license.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65760" y="6565392"/>
            <a:ext cx="11457432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fleetfolio.dev  ·  opsfolio.com  ·  Netspective Communications LLC  ·  May 2026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411480"/>
            <a:ext cx="7315200" cy="1600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Query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Fleet?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2084832"/>
            <a:ext cx="73152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Fleetfolio  ·  Opsfolio Suite  ·  Qualityfolio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651760"/>
            <a:ext cx="2310750" cy="3474720"/>
          </a:xfrm>
          <a:prstGeom prst="rect">
            <a:avLst/>
          </a:prstGeom>
          <a:solidFill>
            <a:srgbClr val="0D2A3C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2651760"/>
            <a:ext cx="231075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65687" y="2834640"/>
            <a:ext cx="585216" cy="58521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365687" y="2834640"/>
            <a:ext cx="58521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30936" y="3584448"/>
            <a:ext cx="2054718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Your Fleet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" y="4023360"/>
            <a:ext cx="2054718" cy="1828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osquery agents and point Steampipe at your cloud. Fleet posture goes live in hours, not weeks.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905110" y="2651760"/>
            <a:ext cx="2310750" cy="3474720"/>
          </a:xfrm>
          <a:prstGeom prst="rect">
            <a:avLst/>
          </a:prstGeom>
          <a:solidFill>
            <a:srgbClr val="0D2A3C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905110" y="2651760"/>
            <a:ext cx="2310750" cy="9144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67877" y="2834640"/>
            <a:ext cx="585216" cy="585216"/>
          </a:xfrm>
          <a:prstGeom prst="ellipse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767877" y="2834640"/>
            <a:ext cx="58521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033126" y="3584448"/>
            <a:ext cx="2054718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Your First Query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033126" y="4023360"/>
            <a:ext cx="2054718" cy="1828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* FROM device_posture WHERE disk_encrypted = FALSE. See your actual exposure in seconds.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307300" y="2651760"/>
            <a:ext cx="2310750" cy="3474720"/>
          </a:xfrm>
          <a:prstGeom prst="rect">
            <a:avLst/>
          </a:prstGeom>
          <a:solidFill>
            <a:srgbClr val="0D2A3C"/>
          </a:solidFill>
          <a:ln w="1270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307300" y="2651760"/>
            <a:ext cx="2310750" cy="91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170066" y="2834640"/>
            <a:ext cx="585216" cy="585216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170066" y="2834640"/>
            <a:ext cx="58521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435316" y="3584448"/>
            <a:ext cx="2054718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Package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35316" y="4023360"/>
            <a:ext cx="2054718" cy="1828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90 days: generate your first SOC 2 or CMMC audit package by query. No sprint. No screenshots.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800929" y="2514600"/>
            <a:ext cx="4113703" cy="3931920"/>
          </a:xfrm>
          <a:prstGeom prst="rect">
            <a:avLst/>
          </a:prstGeom>
          <a:solidFill>
            <a:srgbClr val="0D2A3C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983809" y="2697480"/>
            <a:ext cx="3930823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Us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983809" y="3218688"/>
            <a:ext cx="71323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Fleet: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733617" y="3218688"/>
            <a:ext cx="3199303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fleetfolio.dev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983809" y="3767328"/>
            <a:ext cx="71323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Suite: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733617" y="3767328"/>
            <a:ext cx="3199303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opsfolio.com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983809" y="4315968"/>
            <a:ext cx="71323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Email: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733617" y="4315968"/>
            <a:ext cx="3199303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sales@opsfolio.com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983809" y="4864608"/>
            <a:ext cx="71323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QA: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33617" y="4864608"/>
            <a:ext cx="3199303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qualityfolio.dev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983809" y="5596128"/>
            <a:ext cx="3930823" cy="4572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7983809" y="5596128"/>
            <a:ext cx="3930823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 Live Demo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65760" y="6565392"/>
            <a:ext cx="11457432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fleetfolio.dev  ·  Confidential  ·  Netspective Communications LLC  ·  May 2026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2286</Words>
  <Application>Microsoft Office PowerPoint</Application>
  <PresentationFormat>Widescreen</PresentationFormat>
  <Paragraphs>362</Paragraphs>
  <Slides>17</Slides>
  <Notes>17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Fleetfolio: A Product Tour</dc:title>
  <dc:subject>PptxGenJS Presentation</dc:subject>
  <dc:creator>Netspective / Opsfolio</dc:creator>
  <cp:lastModifiedBy>pm 14</cp:lastModifiedBy>
  <cp:revision>19</cp:revision>
  <dcterms:created xsi:type="dcterms:W3CDTF">2026-05-06T04:13:07Z</dcterms:created>
  <dcterms:modified xsi:type="dcterms:W3CDTF">2026-05-06T09:58:43Z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